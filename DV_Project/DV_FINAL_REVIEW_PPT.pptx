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709" r:id="rId1"/>
  </p:sldMasterIdLst>
  <p:notesMasterIdLst>
    <p:notesMasterId r:id="rId21"/>
  </p:notesMasterIdLst>
  <p:sldIdLst>
    <p:sldId id="256" r:id="rId2"/>
    <p:sldId id="257" r:id="rId3"/>
    <p:sldId id="273" r:id="rId4"/>
    <p:sldId id="272" r:id="rId5"/>
    <p:sldId id="274" r:id="rId6"/>
    <p:sldId id="275" r:id="rId7"/>
    <p:sldId id="276" r:id="rId8"/>
    <p:sldId id="264" r:id="rId9"/>
    <p:sldId id="277" r:id="rId10"/>
    <p:sldId id="278" r:id="rId11"/>
    <p:sldId id="279" r:id="rId12"/>
    <p:sldId id="280" r:id="rId13"/>
    <p:sldId id="281" r:id="rId14"/>
    <p:sldId id="282" r:id="rId15"/>
    <p:sldId id="283" r:id="rId16"/>
    <p:sldId id="284" r:id="rId17"/>
    <p:sldId id="285" r:id="rId18"/>
    <p:sldId id="287"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667B14-B010-463B-8007-0619AE37E96A}" v="11" dt="2026-09-29T04:33:51.56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B78C19D-8699-44D9-A94F-3A4031AB1B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648" y="53"/>
      </p:cViewPr>
      <p:guideLst>
        <p:guide orient="horz" pos="2160"/>
        <p:guide pos="3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32" name="Google Shape;3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3" name="Google Shape;3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b29c3043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2" name="Google Shape;92;g3ab29c3043a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g3ab29c3043a_0_8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AE0E-24AB-503E-A547-542FCFA94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64FC6C-73D9-7490-2C62-32497DA8BC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8282A-07A2-6A24-7E22-BD6400CF6645}"/>
              </a:ext>
            </a:extLst>
          </p:cNvPr>
          <p:cNvSpPr>
            <a:spLocks noGrp="1"/>
          </p:cNvSpPr>
          <p:nvPr>
            <p:ph type="dt" sz="half" idx="10"/>
          </p:nvPr>
        </p:nvSpPr>
        <p:spPr/>
        <p:txBody>
          <a:bodyPr/>
          <a:lstStyle/>
          <a:p>
            <a:fld id="{48A87A34-81AB-432B-8DAE-1953F412C126}" type="datetimeFigureOut">
              <a:rPr lang="en-US" smtClean="0"/>
              <a:t>10/30/2026</a:t>
            </a:fld>
            <a:endParaRPr lang="en-US" dirty="0"/>
          </a:p>
        </p:txBody>
      </p:sp>
      <p:sp>
        <p:nvSpPr>
          <p:cNvPr id="5" name="Footer Placeholder 4">
            <a:extLst>
              <a:ext uri="{FF2B5EF4-FFF2-40B4-BE49-F238E27FC236}">
                <a16:creationId xmlns:a16="http://schemas.microsoft.com/office/drawing/2014/main" id="{03E2F219-0913-5313-04E3-F1DE17C8CE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FB33BC-4914-D8DB-FFA3-87B0093C06D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757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796B-1E9E-983A-1D51-42D0FB0157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748623-1EA7-E8D0-DC21-5C7A7C2DE6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16845-6129-ACAC-7002-C7798F3425B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7A3F9B-A2AA-B4AC-B03A-832C951B45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212FA-F3A8-E78E-4F79-2D42CEAB740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926824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7510-C237-AF11-190A-673829133B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2F2101-280F-7C6A-D18B-FC5622A285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F41842-1300-0CA5-5A1C-1CB1C8149B5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0F5B5EC-B0A9-CF0A-7B43-C4B42EAC87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FA178E-D5E1-178C-2A4E-CEA9465AAFB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35666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9F8C6-51DA-74C8-AB6A-EF0DF25249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C82ADE-ABBC-3393-93C8-2FC513EFAD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1E91BC-1141-189B-6E80-3CFDF92660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02CF4-93A8-2CFD-728F-91AAE1DB888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659596D-3AB8-62A9-D3E5-76C9CB1EF0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58A216-0ED8-7F5D-507B-87779DA983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822312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D6BD-DF15-0514-1B53-AFD2A1F4AE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1528DA-74AD-09F4-956E-AD45CA0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C22744-377D-C3FE-8EEC-CFC1590D1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FA5A10-78F0-72B3-189F-A019C89C1F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79208-3A05-AF5F-8C18-7B96F2268E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8EBE89-DF44-6105-EEB2-EFBC0D59E432}"/>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0190CAEA-D47D-904D-7B36-9AC92FA32C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CEF944-A816-E6A1-BEBA-7104AFB620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16470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8455-7A97-4B34-1E00-1F3D55E1E8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FBC6D6-3363-9721-22AC-57BDBE7BA7D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D07198B-9BC5-1237-1C34-4288329966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2BFA23D-4451-94C9-E51B-015ACD9E11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016432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4C93C1-AC9C-4A13-AABE-282A70428005}"/>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4604FD3-1E89-8CEF-ADCD-495D58413C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BF53A0-7697-A01B-49C4-47A9EFBE09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5218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CD47-2B2E-188F-D955-E14F3037A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FD7BBA-55D5-19EB-EE10-80BAAC08AD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9762EF-7C35-C113-605A-5239173E4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CEE0E6-EDF4-DC9F-43C1-BF0EDBD7746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63664D-CE82-197D-32A5-0C48877721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6DC491-228F-3B96-A12B-72F7D23E74F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670026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C73F-6A6B-7420-D56A-9F89C11AA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D69BC3-53D3-45DC-2F3B-E7C1007A3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155057-DDEF-FCBA-6C27-BE56023E5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A7B40A-41AA-A48B-1105-6D71AB9BC69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D0C47B0-7084-FCFD-027C-92201A0084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C01EAF-AAE6-35DC-81D1-1F0B7356AA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26439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AAD0-0641-8B7C-EB53-F79304613A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DF6D41-6FC9-6F25-1BBC-D329015C46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762B1A-F5AD-DED6-AA6D-01FC7DD545B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E4B3746-F5C9-EDDF-EE90-82A669A70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F46E70-33FA-47A6-ED6E-B6409D3C627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24963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8B4B1-2B95-D025-B606-ACD45159C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F8D6B1-04A8-0C7B-B958-00003B7E3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AE541-063C-0AB7-FEE3-FAA3CC1B6C6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5E67BAA-E2D5-BB8B-9901-CB0C7B638A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A025C5-569A-DD89-748B-B612DE41E9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780621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9"/>
        <p:cNvGrpSpPr/>
        <p:nvPr/>
      </p:nvGrpSpPr>
      <p:grpSpPr>
        <a:xfrm>
          <a:off x="0" y="0"/>
          <a:ext cx="0" cy="0"/>
          <a:chOff x="0" y="0"/>
          <a:chExt cx="0" cy="0"/>
        </a:xfrm>
      </p:grpSpPr>
      <p:sp>
        <p:nvSpPr>
          <p:cNvPr id="20" name="Google Shape;20;p7"/>
          <p:cNvSpPr txBox="1">
            <a:spLocks noGrp="1"/>
          </p:cNvSpPr>
          <p:nvPr>
            <p:ph type="body" idx="1"/>
          </p:nvPr>
        </p:nvSpPr>
        <p:spPr>
          <a:xfrm>
            <a:off x="869085" y="1561876"/>
            <a:ext cx="10515600" cy="45314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7"/>
          <p:cNvSpPr txBox="1">
            <a:spLocks noGrp="1"/>
          </p:cNvSpPr>
          <p:nvPr>
            <p:ph type="dt" idx="10"/>
          </p:nvPr>
        </p:nvSpPr>
        <p:spPr>
          <a:xfrm>
            <a:off x="695400" y="6278770"/>
            <a:ext cx="165618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7"/>
          <p:cNvSpPr txBox="1">
            <a:spLocks noGrp="1"/>
          </p:cNvSpPr>
          <p:nvPr>
            <p:ph type="ftr" idx="11"/>
          </p:nvPr>
        </p:nvSpPr>
        <p:spPr>
          <a:xfrm>
            <a:off x="2567608" y="6278771"/>
            <a:ext cx="691276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7"/>
          <p:cNvSpPr txBox="1">
            <a:spLocks noGrp="1"/>
          </p:cNvSpPr>
          <p:nvPr>
            <p:ph type="sldNum" idx="12"/>
          </p:nvPr>
        </p:nvSpPr>
        <p:spPr>
          <a:xfrm>
            <a:off x="10272464" y="6356350"/>
            <a:ext cx="108133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359968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3B70A0-6677-A445-D7D6-500EBD0FE2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912EF5-E430-94B1-6A8C-87C0F2A747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951C5D-C70E-153A-196E-D1554C3D5D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3791128-6E03-AC04-A189-248C71B6F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D5A705-43E0-F5A6-5B6F-8A6BD0E8F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92530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Shape 34"/>
        <p:cNvGrpSpPr/>
        <p:nvPr/>
      </p:nvGrpSpPr>
      <p:grpSpPr>
        <a:xfrm>
          <a:off x="0" y="0"/>
          <a:ext cx="0" cy="0"/>
          <a:chOff x="0" y="0"/>
          <a:chExt cx="0" cy="0"/>
        </a:xfrm>
      </p:grpSpPr>
      <p:sp>
        <p:nvSpPr>
          <p:cNvPr id="35" name="Google Shape;35;p1"/>
          <p:cNvSpPr txBox="1"/>
          <p:nvPr/>
        </p:nvSpPr>
        <p:spPr>
          <a:xfrm>
            <a:off x="504834" y="1715730"/>
            <a:ext cx="10696612" cy="1944216"/>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endParaRPr sz="4000" b="1" i="0" u="none" strike="noStrike" cap="none">
              <a:solidFill>
                <a:srgbClr val="00B050"/>
              </a:solidFill>
              <a:latin typeface="Times New Roman" panose="02020603050405020304" charset="0"/>
              <a:ea typeface="Arial Rounded"/>
              <a:cs typeface="Times New Roman" panose="02020603050405020304" charset="0"/>
              <a:sym typeface="Arial Rounded"/>
            </a:endParaRPr>
          </a:p>
        </p:txBody>
      </p:sp>
      <p:sp>
        <p:nvSpPr>
          <p:cNvPr id="36" name="Google Shape;36;p1"/>
          <p:cNvSpPr txBox="1"/>
          <p:nvPr/>
        </p:nvSpPr>
        <p:spPr>
          <a:xfrm>
            <a:off x="295470" y="1362172"/>
            <a:ext cx="10696612" cy="93610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r>
              <a:rPr lang="en-US" sz="3500" b="0" i="0" u="none" strike="noStrike" cap="none" dirty="0">
                <a:solidFill>
                  <a:srgbClr val="0000FF"/>
                </a:solidFill>
                <a:latin typeface="Times New Roman" panose="02020603050405020304" charset="0"/>
                <a:ea typeface="Arial" panose="020B0604020202020204"/>
                <a:cs typeface="Times New Roman" panose="02020603050405020304" charset="0"/>
                <a:sym typeface="Arial" panose="020B0604020202020204"/>
              </a:rPr>
              <a:t>Project Review</a:t>
            </a:r>
            <a:endParaRPr lang="en-US" sz="3500" dirty="0">
              <a:solidFill>
                <a:srgbClr val="0000FF"/>
              </a:solidFill>
              <a:latin typeface="Times New Roman" panose="02020603050405020304" charset="0"/>
              <a:cs typeface="Times New Roman" panose="02020603050405020304" charset="0"/>
            </a:endParaRPr>
          </a:p>
        </p:txBody>
      </p:sp>
      <p:sp>
        <p:nvSpPr>
          <p:cNvPr id="37" name="Google Shape;37;p1"/>
          <p:cNvSpPr/>
          <p:nvPr/>
        </p:nvSpPr>
        <p:spPr>
          <a:xfrm>
            <a:off x="295470" y="3417087"/>
            <a:ext cx="67875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Presented by:</a:t>
            </a:r>
            <a:r>
              <a:rPr lang="en-US" sz="2400" b="0"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p>
          <a:p>
            <a:pPr marL="114300" marR="0" lvl="0" algn="l" rtl="0">
              <a:lnSpc>
                <a:spcPct val="150000"/>
              </a:lnSpc>
              <a:spcBef>
                <a:spcPts val="0"/>
              </a:spcBef>
              <a:spcAft>
                <a:spcPts val="0"/>
              </a:spcAft>
              <a:buClr>
                <a:schemeClr val="dk1"/>
              </a:buClr>
              <a:buSzPts val="1800"/>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G. Bhanu </a:t>
            </a:r>
            <a:r>
              <a:rPr lang="en-US" sz="1800"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T</a:t>
            </a: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eja </a:t>
            </a:r>
            <a:r>
              <a:rPr lang="en-US" sz="1800"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 24B11DS072</a:t>
            </a:r>
          </a:p>
          <a:p>
            <a:pPr marL="457200" marR="0" lvl="0" indent="-342900" algn="l" rtl="0">
              <a:lnSpc>
                <a:spcPct val="150000"/>
              </a:lnSpc>
              <a:spcBef>
                <a:spcPts val="0"/>
              </a:spcBef>
              <a:spcAft>
                <a:spcPts val="0"/>
              </a:spcAft>
              <a:buClr>
                <a:schemeClr val="dk1"/>
              </a:buClr>
              <a:buSzPts val="1800"/>
              <a:buAutoNum type="alphaUcPeriod"/>
            </a:pPr>
            <a:r>
              <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Madhan – 24B11DS002</a:t>
            </a:r>
          </a:p>
          <a:p>
            <a:pPr marL="114300" marR="0" lvl="0" algn="l" rtl="0">
              <a:lnSpc>
                <a:spcPct val="150000"/>
              </a:lnSpc>
              <a:spcBef>
                <a:spcPts val="0"/>
              </a:spcBef>
              <a:spcAft>
                <a:spcPts val="0"/>
              </a:spcAft>
              <a:buClr>
                <a:schemeClr val="dk1"/>
              </a:buClr>
              <a:buSzPts val="1800"/>
            </a:pPr>
            <a:r>
              <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M. Chethan – 24B11DS128</a:t>
            </a:r>
          </a:p>
          <a:p>
            <a:pPr marL="114300" marR="0" lvl="0" algn="l" rtl="0">
              <a:lnSpc>
                <a:spcPct val="150000"/>
              </a:lnSpc>
              <a:spcBef>
                <a:spcPts val="0"/>
              </a:spcBef>
              <a:spcAft>
                <a:spcPts val="0"/>
              </a:spcAft>
              <a:buClr>
                <a:schemeClr val="dk1"/>
              </a:buClr>
              <a:buSzPts val="1800"/>
            </a:pPr>
            <a:r>
              <a:rPr lang="en-US"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K. Durga – 25B21DS008</a:t>
            </a:r>
            <a:endPar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8" name="Google Shape;38;p1"/>
          <p:cNvSpPr txBox="1"/>
          <p:nvPr/>
        </p:nvSpPr>
        <p:spPr>
          <a:xfrm>
            <a:off x="390800" y="2063378"/>
            <a:ext cx="10696612" cy="936104"/>
          </a:xfrm>
          <a:prstGeom prst="rect">
            <a:avLst/>
          </a:prstGeom>
          <a:noFill/>
          <a:ln>
            <a:noFill/>
          </a:ln>
        </p:spPr>
        <p:txBody>
          <a:bodyPr spcFirstLastPara="1" wrap="square" lIns="91425" tIns="45700" rIns="91425" bIns="45700" anchor="b" anchorCtr="0">
            <a:noAutofit/>
          </a:bodyPr>
          <a:lstStyle/>
          <a:p>
            <a:pPr lvl="0" algn="ctr">
              <a:buClr>
                <a:srgbClr val="7030A0"/>
              </a:buClr>
              <a:buSzPts val="2800"/>
            </a:pPr>
            <a:r>
              <a:rPr lang="en-US" sz="4000" dirty="0">
                <a:latin typeface="Times New Roman" panose="02020603050405020304" pitchFamily="18" charset="0"/>
                <a:cs typeface="Times New Roman" panose="02020603050405020304" pitchFamily="18" charset="0"/>
              </a:rPr>
              <a:t>Global Military Firepower Analysis Dashboard</a:t>
            </a:r>
          </a:p>
        </p:txBody>
      </p:sp>
      <p:sp>
        <p:nvSpPr>
          <p:cNvPr id="39" name="Google Shape;39;p1"/>
          <p:cNvSpPr/>
          <p:nvPr/>
        </p:nvSpPr>
        <p:spPr>
          <a:xfrm>
            <a:off x="7096601" y="3429238"/>
            <a:ext cx="4752528"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Project Guide: P. Srilatha</a:t>
            </a:r>
            <a:r>
              <a:rPr lang="en-US"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-Assistant Professor</a:t>
            </a:r>
            <a:endParaRPr lang="en-US" dirty="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0" marR="0" lvl="0" indent="0" algn="l" rtl="0">
              <a:lnSpc>
                <a:spcPct val="150000"/>
              </a:lnSpc>
              <a:spcBef>
                <a:spcPts val="0"/>
              </a:spcBef>
              <a:spcAft>
                <a:spcPts val="0"/>
              </a:spcAft>
              <a:buNone/>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Dept of Data Science</a:t>
            </a:r>
          </a:p>
        </p:txBody>
      </p:sp>
      <p:pic>
        <p:nvPicPr>
          <p:cNvPr id="3" name="Picture 2">
            <a:extLst>
              <a:ext uri="{FF2B5EF4-FFF2-40B4-BE49-F238E27FC236}">
                <a16:creationId xmlns:a16="http://schemas.microsoft.com/office/drawing/2014/main" id="{52CD09C8-588B-F30C-9325-F4928D6D90D1}"/>
              </a:ext>
            </a:extLst>
          </p:cNvPr>
          <p:cNvPicPr>
            <a:picLocks noChangeAspect="1"/>
          </p:cNvPicPr>
          <p:nvPr/>
        </p:nvPicPr>
        <p:blipFill>
          <a:blip r:embed="rId3"/>
          <a:stretch>
            <a:fillRect/>
          </a:stretch>
        </p:blipFill>
        <p:spPr>
          <a:xfrm>
            <a:off x="1872777" y="0"/>
            <a:ext cx="8249801" cy="13527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body" idx="1"/>
          </p:nvPr>
        </p:nvSpPr>
        <p:spPr>
          <a:xfrm>
            <a:off x="957576" y="676371"/>
            <a:ext cx="10515600" cy="6065854"/>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rgbClr val="FF0000"/>
              </a:buClr>
              <a:buSzPct val="100000"/>
              <a:buNone/>
            </a:pPr>
            <a:r>
              <a:rPr lang="en-US" sz="2700"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Content for Project Review</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Problem Statement</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Abstract</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Objectives</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Data Set </a:t>
            </a:r>
            <a:r>
              <a:rPr lang="en-US" b="1" dirty="0" err="1">
                <a:latin typeface="Times New Roman" panose="02020603050405020304" charset="0"/>
                <a:cs typeface="Times New Roman" panose="02020603050405020304" charset="0"/>
              </a:rPr>
              <a:t>Discription</a:t>
            </a: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r>
              <a:rPr lang="en-US" b="1" dirty="0" err="1">
                <a:latin typeface="Times New Roman" panose="02020603050405020304" charset="0"/>
                <a:cs typeface="Times New Roman" panose="02020603050405020304" charset="0"/>
              </a:rPr>
              <a:t>Praposed</a:t>
            </a:r>
            <a:r>
              <a:rPr lang="en-US" b="1" dirty="0">
                <a:latin typeface="Times New Roman" panose="02020603050405020304" charset="0"/>
                <a:cs typeface="Times New Roman" panose="02020603050405020304" charset="0"/>
              </a:rPr>
              <a:t> Data </a:t>
            </a:r>
            <a:r>
              <a:rPr lang="en-US" b="1" dirty="0" err="1">
                <a:latin typeface="Times New Roman" panose="02020603050405020304" charset="0"/>
                <a:cs typeface="Times New Roman" panose="02020603050405020304" charset="0"/>
              </a:rPr>
              <a:t>Visulaization</a:t>
            </a:r>
            <a:r>
              <a:rPr lang="en-US" b="1" dirty="0">
                <a:latin typeface="Times New Roman" panose="02020603050405020304" charset="0"/>
                <a:cs typeface="Times New Roman" panose="02020603050405020304" charset="0"/>
              </a:rPr>
              <a:t> </a:t>
            </a:r>
            <a:r>
              <a:rPr lang="en-US" b="1" dirty="0" err="1">
                <a:latin typeface="Times New Roman" panose="02020603050405020304" charset="0"/>
                <a:cs typeface="Times New Roman" panose="02020603050405020304" charset="0"/>
              </a:rPr>
              <a:t>Approch</a:t>
            </a: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Project </a:t>
            </a:r>
            <a:r>
              <a:rPr lang="en-US" b="1" dirty="0" err="1">
                <a:latin typeface="Times New Roman" panose="02020603050405020304" charset="0"/>
                <a:cs typeface="Times New Roman" panose="02020603050405020304" charset="0"/>
              </a:rPr>
              <a:t>Requirments</a:t>
            </a: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Data </a:t>
            </a:r>
            <a:r>
              <a:rPr lang="en-US" b="1" dirty="0" err="1">
                <a:latin typeface="Times New Roman" panose="02020603050405020304" charset="0"/>
                <a:cs typeface="Times New Roman" panose="02020603050405020304" charset="0"/>
              </a:rPr>
              <a:t>Architecure</a:t>
            </a:r>
            <a:r>
              <a:rPr lang="en-US" b="1" dirty="0">
                <a:latin typeface="Times New Roman" panose="02020603050405020304" charset="0"/>
                <a:cs typeface="Times New Roman" panose="02020603050405020304" charset="0"/>
              </a:rPr>
              <a:t> and Preprocessing</a:t>
            </a:r>
          </a:p>
          <a:p>
            <a:pPr marL="514350" lvl="0" indent="-514350">
              <a:buSzPct val="100000"/>
              <a:buAutoNum type="arabicPeriod"/>
            </a:pPr>
            <a:r>
              <a:rPr lang="en-US" b="1" dirty="0">
                <a:solidFill>
                  <a:srgbClr val="232323"/>
                </a:solidFill>
                <a:latin typeface="Times New Roman"/>
              </a:rPr>
              <a:t>Exploratory Data Analysis &amp; Trend Mapping</a:t>
            </a:r>
          </a:p>
          <a:p>
            <a:pPr marL="514350" lvl="0" indent="-514350">
              <a:buSzPct val="100000"/>
              <a:buAutoNum type="arabicPeriod"/>
            </a:pPr>
            <a:r>
              <a:rPr lang="en-US" b="1" dirty="0">
                <a:solidFill>
                  <a:srgbClr val="232323"/>
                </a:solidFill>
                <a:latin typeface="Times New Roman"/>
              </a:rPr>
              <a:t>Power BI Dashboard — Visual Implementation</a:t>
            </a:r>
          </a:p>
          <a:p>
            <a:pPr marL="514350" lvl="0" indent="-514350">
              <a:buSzPct val="100000"/>
              <a:buAutoNum type="arabicPeriod"/>
            </a:pPr>
            <a:r>
              <a:rPr lang="en-IN" b="1" dirty="0">
                <a:solidFill>
                  <a:srgbClr val="232323"/>
                </a:solidFill>
                <a:latin typeface="Times New Roman"/>
              </a:rPr>
              <a:t>Advanced Analytics</a:t>
            </a:r>
          </a:p>
          <a:p>
            <a:pPr marL="514350" lvl="0" indent="-514350">
              <a:buSzPct val="100000"/>
              <a:buAutoNum type="arabicPeriod"/>
            </a:pPr>
            <a:r>
              <a:rPr lang="en-IN" b="1" dirty="0">
                <a:solidFill>
                  <a:srgbClr val="232323"/>
                </a:solidFill>
                <a:latin typeface="Times New Roman"/>
              </a:rPr>
              <a:t>Conclusion</a:t>
            </a:r>
            <a:endParaRPr lang="en-US" b="1" dirty="0">
              <a:solidFill>
                <a:srgbClr val="232323"/>
              </a:solidFill>
              <a:latin typeface="Times New Roman"/>
            </a:endParaRPr>
          </a:p>
          <a:p>
            <a:pPr marL="514350" lvl="0" indent="-514350">
              <a:buSzPct val="100000"/>
              <a:buAutoNum type="arabicPeriod"/>
            </a:pPr>
            <a:endParaRPr lang="en-US" b="1" dirty="0">
              <a:solidFill>
                <a:srgbClr val="232323"/>
              </a:solidFill>
              <a:latin typeface="Times New Roman"/>
            </a:endParaRPr>
          </a:p>
          <a:p>
            <a:pPr marL="514350" lvl="0" indent="-514350">
              <a:buSzPct val="100000"/>
              <a:buAutoNum type="arabicPeriod"/>
            </a:pP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endParaRPr lang="en-US" b="1" dirty="0">
              <a:latin typeface="Times New Roman" panose="02020603050405020304" charset="0"/>
              <a:cs typeface="Times New Roman" panose="02020603050405020304" charset="0"/>
            </a:endParaRPr>
          </a:p>
          <a:p>
            <a:pPr marL="514350" lvl="0" indent="-514350" algn="l" rtl="0">
              <a:lnSpc>
                <a:spcPct val="90000"/>
              </a:lnSpc>
              <a:spcBef>
                <a:spcPts val="1000"/>
              </a:spcBef>
              <a:spcAft>
                <a:spcPts val="0"/>
              </a:spcAft>
              <a:buClr>
                <a:schemeClr val="dk1"/>
              </a:buClr>
              <a:buSzPct val="100000"/>
              <a:buAutoNum type="arabicPeriod"/>
            </a:pPr>
            <a:endParaRPr lang="en-US" b="1" dirty="0">
              <a:latin typeface="Times New Roman" panose="02020603050405020304" charset="0"/>
              <a:cs typeface="Times New Roman" panose="02020603050405020304" charset="0"/>
            </a:endParaRPr>
          </a:p>
        </p:txBody>
      </p:sp>
      <p:pic>
        <p:nvPicPr>
          <p:cNvPr id="3" name="Picture 2">
            <a:extLst>
              <a:ext uri="{FF2B5EF4-FFF2-40B4-BE49-F238E27FC236}">
                <a16:creationId xmlns:a16="http://schemas.microsoft.com/office/drawing/2014/main" id="{F30B3B2D-D87C-3847-2E1C-3826ACC6BD36}"/>
              </a:ext>
            </a:extLst>
          </p:cNvPr>
          <p:cNvPicPr>
            <a:picLocks noChangeAspect="1"/>
          </p:cNvPicPr>
          <p:nvPr/>
        </p:nvPicPr>
        <p:blipFill>
          <a:blip r:embed="rId3"/>
          <a:stretch>
            <a:fillRect/>
          </a:stretch>
        </p:blipFill>
        <p:spPr>
          <a:xfrm>
            <a:off x="0" y="0"/>
            <a:ext cx="4124904" cy="6763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DCAA0-46FB-263A-71C9-F081385AB9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9E406C-7B6F-14F9-4178-8431DFFF46B2}"/>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Problem Statement</a:t>
            </a:r>
          </a:p>
          <a:p>
            <a:endParaRPr lang="en-IN" dirty="0"/>
          </a:p>
        </p:txBody>
      </p:sp>
      <p:sp>
        <p:nvSpPr>
          <p:cNvPr id="3" name="Rectangle 1">
            <a:extLst>
              <a:ext uri="{FF2B5EF4-FFF2-40B4-BE49-F238E27FC236}">
                <a16:creationId xmlns:a16="http://schemas.microsoft.com/office/drawing/2014/main" id="{18150F0C-C7F9-EE9C-46FF-DDFC048A042C}"/>
              </a:ext>
            </a:extLst>
          </p:cNvPr>
          <p:cNvSpPr>
            <a:spLocks noGrp="1" noChangeArrowheads="1"/>
          </p:cNvSpPr>
          <p:nvPr>
            <p:ph type="body" idx="1"/>
          </p:nvPr>
        </p:nvSpPr>
        <p:spPr bwMode="auto">
          <a:xfrm>
            <a:off x="903878" y="1786062"/>
            <a:ext cx="959766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SzTx/>
            </a:pPr>
            <a:r>
              <a:rPr lang="en-IN" sz="1600" dirty="0">
                <a:latin typeface="Times New Roman" panose="02020603050405020304" pitchFamily="18" charset="0"/>
                <a:cs typeface="Times New Roman" panose="02020603050405020304" pitchFamily="18" charset="0"/>
              </a:rPr>
              <a:t>In the modern geopolitical landscape, global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operates as an intricate ecosystem where power is determined not merely by raw troop counts, but by how efficiently nations transform financial investment into multi-domain military capabilities. True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dynamics depend on complex strategic balances—weighing high-budget technological superiority against sheer manpower brawn, standing active forces against mobilization-dependent reserves, and naval power projection against ground and air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However, raw datasets and surface-level rankings fail to reveal how global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actually functions, masking vital insights such as per-capita militarization, domain specialization, and the dynamic shift in power created by potential international alliances. Without an interactive visualization system, evaluating actual military readiness, force allocation, and budget efficiency across nations remains fragmented and opaque for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analysts, researchers, and decision-makers. </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CBA45A-42BB-EE02-3EDB-CD105CC02960}"/>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66538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5FFB43-603F-37E1-01E7-486E04C81215}"/>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Bell MT" panose="02020503060305020303" pitchFamily="18" charset="0"/>
                <a:ea typeface="Calibri" panose="020F0502020204030204"/>
                <a:cs typeface="Calibri" panose="020F0502020204030204"/>
              </a:rPr>
              <a:t>Abstract</a:t>
            </a:r>
          </a:p>
          <a:p>
            <a:endParaRPr lang="en-IN" dirty="0"/>
          </a:p>
        </p:txBody>
      </p:sp>
      <p:sp>
        <p:nvSpPr>
          <p:cNvPr id="3" name="Rectangle 1">
            <a:extLst>
              <a:ext uri="{FF2B5EF4-FFF2-40B4-BE49-F238E27FC236}">
                <a16:creationId xmlns:a16="http://schemas.microsoft.com/office/drawing/2014/main" id="{25FB18B2-0609-5050-5A5B-910B1478FFCD}"/>
              </a:ext>
            </a:extLst>
          </p:cNvPr>
          <p:cNvSpPr>
            <a:spLocks noGrp="1" noChangeArrowheads="1"/>
          </p:cNvSpPr>
          <p:nvPr>
            <p:ph type="body" idx="1"/>
          </p:nvPr>
        </p:nvSpPr>
        <p:spPr bwMode="auto">
          <a:xfrm>
            <a:off x="903878" y="1208981"/>
            <a:ext cx="9597663"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SzTx/>
            </a:pPr>
            <a:r>
              <a:rPr lang="en-IN" sz="1500" dirty="0">
                <a:latin typeface="Times New Roman" panose="02020603050405020304" pitchFamily="18" charset="0"/>
                <a:cs typeface="Times New Roman" panose="02020603050405020304" pitchFamily="18" charset="0"/>
              </a:rPr>
              <a:t>This project focuses on analysing and visualizing the </a:t>
            </a:r>
            <a:r>
              <a:rPr lang="en-IN" sz="1500" b="1" dirty="0">
                <a:latin typeface="Times New Roman" panose="02020603050405020304" pitchFamily="18" charset="0"/>
                <a:cs typeface="Times New Roman" panose="02020603050405020304" pitchFamily="18" charset="0"/>
              </a:rPr>
              <a:t>Global Military Firepower 2025</a:t>
            </a:r>
            <a:r>
              <a:rPr lang="en-IN" sz="1500" dirty="0">
                <a:latin typeface="Times New Roman" panose="02020603050405020304" pitchFamily="18" charset="0"/>
                <a:cs typeface="Times New Roman" panose="02020603050405020304" pitchFamily="18" charset="0"/>
              </a:rPr>
              <a:t> dataset to uncover meaningful insights into the military capabilities of countries worldwide. The project begins with </a:t>
            </a:r>
            <a:r>
              <a:rPr lang="en-IN" sz="1500" b="1" dirty="0">
                <a:latin typeface="Times New Roman" panose="02020603050405020304" pitchFamily="18" charset="0"/>
                <a:cs typeface="Times New Roman" panose="02020603050405020304" pitchFamily="18" charset="0"/>
              </a:rPr>
              <a:t>data cleaning and preprocessing</a:t>
            </a:r>
            <a:r>
              <a:rPr lang="en-IN" sz="1500" dirty="0">
                <a:latin typeface="Times New Roman" panose="02020603050405020304" pitchFamily="18" charset="0"/>
                <a:cs typeface="Times New Roman" panose="02020603050405020304" pitchFamily="18" charset="0"/>
              </a:rPr>
              <a:t>, where missing values, duplicate records, inconsistent column names, and incorrect data types are identified and corrected. Numerical fields are standardized, categorical values are validated, and the dataset is transformed into an analysis-ready format. After cleaning, </a:t>
            </a:r>
            <a:r>
              <a:rPr lang="en-IN" sz="1500" b="1" dirty="0">
                <a:latin typeface="Times New Roman" panose="02020603050405020304" pitchFamily="18" charset="0"/>
                <a:cs typeface="Times New Roman" panose="02020603050405020304" pitchFamily="18" charset="0"/>
              </a:rPr>
              <a:t>Exploratory Data Analysis (EDA)</a:t>
            </a:r>
            <a:r>
              <a:rPr lang="en-IN" sz="1500" dirty="0">
                <a:latin typeface="Times New Roman" panose="02020603050405020304" pitchFamily="18" charset="0"/>
                <a:cs typeface="Times New Roman" panose="02020603050405020304" pitchFamily="18" charset="0"/>
              </a:rPr>
              <a:t> is performed to understand the distribution of key variables such as </a:t>
            </a:r>
            <a:r>
              <a:rPr lang="en-IN" sz="1500" dirty="0" err="1">
                <a:latin typeface="Times New Roman" panose="02020603050405020304" pitchFamily="18" charset="0"/>
                <a:cs typeface="Times New Roman" panose="02020603050405020304" pitchFamily="18" charset="0"/>
              </a:rPr>
              <a:t>defense</a:t>
            </a:r>
            <a:r>
              <a:rPr lang="en-IN" sz="1500" dirty="0">
                <a:latin typeface="Times New Roman" panose="02020603050405020304" pitchFamily="18" charset="0"/>
                <a:cs typeface="Times New Roman" panose="02020603050405020304" pitchFamily="18" charset="0"/>
              </a:rPr>
              <a:t> budget, military personnel, aircraft, naval strength, armoured vehicles, population, and power index. Relationships between these variables are examined to identify trends and patterns across different countries and regions. The processed data is then used to build an </a:t>
            </a:r>
            <a:r>
              <a:rPr lang="en-IN" sz="1500" b="1" dirty="0">
                <a:latin typeface="Times New Roman" panose="02020603050405020304" pitchFamily="18" charset="0"/>
                <a:cs typeface="Times New Roman" panose="02020603050405020304" pitchFamily="18" charset="0"/>
              </a:rPr>
              <a:t>interactive dashboard</a:t>
            </a:r>
            <a:r>
              <a:rPr lang="en-IN" sz="1500" dirty="0">
                <a:latin typeface="Times New Roman" panose="02020603050405020304" pitchFamily="18" charset="0"/>
                <a:cs typeface="Times New Roman" panose="02020603050405020304" pitchFamily="18" charset="0"/>
              </a:rPr>
              <a:t> using visualization tools such as Power BI or Tableau. The dashboard includes KPIs, bar charts, maps, scatter plots, pie charts, and filters that allow users to compare countries, analyze regional military strength, and evaluate the factors influencing global military power rankings. This project demonstrates the complete data analytics workflow—from raw data preparation to insightful visual storytelling—enabling policymakers, researchers, students, and </a:t>
            </a:r>
            <a:r>
              <a:rPr lang="en-IN" sz="1500" dirty="0" err="1">
                <a:latin typeface="Times New Roman" panose="02020603050405020304" pitchFamily="18" charset="0"/>
                <a:cs typeface="Times New Roman" panose="02020603050405020304" pitchFamily="18" charset="0"/>
              </a:rPr>
              <a:t>defense</a:t>
            </a:r>
            <a:r>
              <a:rPr lang="en-IN" sz="1500" dirty="0">
                <a:latin typeface="Times New Roman" panose="02020603050405020304" pitchFamily="18" charset="0"/>
                <a:cs typeface="Times New Roman" panose="02020603050405020304" pitchFamily="18" charset="0"/>
              </a:rPr>
              <a:t> analysts to make informed decisions through clear, accurate, and interactive visualizations based on reliable military firepower data.</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EB30968-084E-EB67-28B5-AA922D411D5B}"/>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362795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CC81-5E84-5909-3BEC-C074AB084F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7A12A5-5F13-86B8-8850-C2853C6A016B}"/>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Objectives </a:t>
            </a:r>
          </a:p>
          <a:p>
            <a:endParaRPr lang="en-IN" dirty="0"/>
          </a:p>
        </p:txBody>
      </p:sp>
      <p:sp>
        <p:nvSpPr>
          <p:cNvPr id="3" name="Rectangle 1">
            <a:extLst>
              <a:ext uri="{FF2B5EF4-FFF2-40B4-BE49-F238E27FC236}">
                <a16:creationId xmlns:a16="http://schemas.microsoft.com/office/drawing/2014/main" id="{2D4060A5-3E2B-76F0-50AA-AC9BF86BB28E}"/>
              </a:ext>
            </a:extLst>
          </p:cNvPr>
          <p:cNvSpPr>
            <a:spLocks noGrp="1" noChangeArrowheads="1"/>
          </p:cNvSpPr>
          <p:nvPr>
            <p:ph type="body" idx="1"/>
          </p:nvPr>
        </p:nvSpPr>
        <p:spPr bwMode="auto">
          <a:xfrm>
            <a:off x="903878" y="1416731"/>
            <a:ext cx="959766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Data Architecture &amp; Preprocessing :</a:t>
            </a:r>
            <a:r>
              <a:rPr lang="en-IN" sz="1600" dirty="0">
                <a:latin typeface="Times New Roman" panose="02020603050405020304" pitchFamily="18" charset="0"/>
                <a:cs typeface="Times New Roman" panose="02020603050405020304" pitchFamily="18" charset="0"/>
              </a:rPr>
              <a:t>To transform raw data into an analysis-ready format by cleaning and preprocessing the dataset, which includes identifying and correcting missing values, duplicate records, inconsistent column names, and incorrect data types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Exploratory Data Analysis &amp; Trend Mapping :  </a:t>
            </a:r>
            <a:r>
              <a:rPr lang="en-IN" sz="1600" dirty="0">
                <a:latin typeface="Times New Roman" panose="02020603050405020304" pitchFamily="18" charset="0"/>
                <a:cs typeface="Times New Roman" panose="02020603050405020304" pitchFamily="18" charset="0"/>
              </a:rPr>
              <a:t>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the distribution of key variables (e.g.,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military personnel, aircraft, naval strength) and examine relationships to uncover geopolitical patterns and global military trends.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Core Dashboard Development &amp; UI/UX : </a:t>
            </a:r>
            <a:r>
              <a:rPr lang="en-IN" sz="1600" dirty="0">
                <a:latin typeface="Times New Roman" panose="02020603050405020304" pitchFamily="18" charset="0"/>
                <a:cs typeface="Times New Roman" panose="02020603050405020304" pitchFamily="18" charset="0"/>
              </a:rPr>
              <a:t>To design and construct the primary interactive dashboard using Power BI or Tableau, integrating key visual views such as the Geopolitical Landscape (Choropleth Maps) and Resource Allocation (Scatter Plots &amp; </a:t>
            </a:r>
            <a:r>
              <a:rPr lang="en-IN" sz="1600" dirty="0" err="1">
                <a:latin typeface="Times New Roman" panose="02020603050405020304" pitchFamily="18" charset="0"/>
                <a:cs typeface="Times New Roman" panose="02020603050405020304" pitchFamily="18" charset="0"/>
              </a:rPr>
              <a:t>Treemaps</a:t>
            </a:r>
            <a:r>
              <a:rPr lang="en-IN" sz="1600" dirty="0">
                <a:latin typeface="Times New Roman" panose="02020603050405020304" pitchFamily="18" charset="0"/>
                <a:cs typeface="Times New Roman" panose="02020603050405020304" pitchFamily="18" charset="0"/>
              </a:rPr>
              <a:t>).</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Advanced Analytics Dashboard Development : </a:t>
            </a:r>
            <a:r>
              <a:rPr lang="en-IN" sz="1600" dirty="0">
                <a:latin typeface="Times New Roman" panose="02020603050405020304" pitchFamily="18" charset="0"/>
                <a:cs typeface="Times New Roman" panose="02020603050405020304" pitchFamily="18" charset="0"/>
              </a:rPr>
              <a:t>To implement innovative "next-level" features using DAX, including dynamic hypothetical alliance building (What-If parameters), readiness versus reserve indices, and per-capita militarization metrics.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EE4BBA4-6601-95EB-15BF-FCAB1BF78DBC}"/>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289967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EBA9-5EC7-AE55-B985-EDB5EFD7D3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DB728B-32AB-9D56-DFFA-2A8A132D015E}"/>
              </a:ext>
            </a:extLst>
          </p:cNvPr>
          <p:cNvSpPr txBox="1"/>
          <p:nvPr/>
        </p:nvSpPr>
        <p:spPr>
          <a:xfrm>
            <a:off x="3185651" y="625592"/>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Data Set </a:t>
            </a:r>
            <a:r>
              <a:rPr lang="en-US" sz="4000" b="1" dirty="0" err="1">
                <a:solidFill>
                  <a:schemeClr val="dk1"/>
                </a:solidFill>
                <a:latin typeface="Times New Roman" panose="02020603050405020304" pitchFamily="18" charset="0"/>
                <a:ea typeface="Calibri" panose="020F0502020204030204"/>
                <a:cs typeface="Times New Roman" panose="02020603050405020304" pitchFamily="18" charset="0"/>
              </a:rPr>
              <a:t>Discription</a:t>
            </a: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 </a:t>
            </a:r>
          </a:p>
          <a:p>
            <a:endParaRPr lang="en-IN" dirty="0"/>
          </a:p>
        </p:txBody>
      </p:sp>
      <p:sp>
        <p:nvSpPr>
          <p:cNvPr id="3" name="Rectangle 1">
            <a:extLst>
              <a:ext uri="{FF2B5EF4-FFF2-40B4-BE49-F238E27FC236}">
                <a16:creationId xmlns:a16="http://schemas.microsoft.com/office/drawing/2014/main" id="{84168C6D-AF72-6936-9E97-22ABCAC0A5C7}"/>
              </a:ext>
            </a:extLst>
          </p:cNvPr>
          <p:cNvSpPr>
            <a:spLocks noGrp="1" noChangeArrowheads="1"/>
          </p:cNvSpPr>
          <p:nvPr>
            <p:ph type="body" idx="1"/>
          </p:nvPr>
        </p:nvSpPr>
        <p:spPr bwMode="auto">
          <a:xfrm>
            <a:off x="903877" y="1301962"/>
            <a:ext cx="9597663" cy="510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Dataset Overview:</a:t>
            </a:r>
            <a:r>
              <a:rPr lang="en-IN" sz="1600" dirty="0">
                <a:latin typeface="Times New Roman" panose="02020603050405020304" pitchFamily="18" charset="0"/>
                <a:cs typeface="Times New Roman" panose="02020603050405020304" pitchFamily="18" charset="0"/>
              </a:rPr>
              <a:t> The "Global Military Firepower 2025" dataset contains </a:t>
            </a:r>
            <a:r>
              <a:rPr lang="en-IN" sz="1600" b="1" dirty="0">
                <a:latin typeface="Times New Roman" panose="02020603050405020304" pitchFamily="18" charset="0"/>
                <a:cs typeface="Times New Roman" panose="02020603050405020304" pitchFamily="18" charset="0"/>
              </a:rPr>
              <a:t>145 rows (representing 145 countries)</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57 detailed columns (assessment factors)</a:t>
            </a:r>
            <a:r>
              <a:rPr lang="en-IN" sz="1600" dirty="0">
                <a:latin typeface="Times New Roman" panose="02020603050405020304" pitchFamily="18" charset="0"/>
                <a:cs typeface="Times New Roman" panose="02020603050405020304" pitchFamily="18" charset="0"/>
              </a:rPr>
              <a:t> covering diverse military, economic, and logistical capabilities.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Demographics &amp; Manpower:</a:t>
            </a:r>
            <a:r>
              <a:rPr lang="en-IN" sz="1600" dirty="0">
                <a:latin typeface="Times New Roman" panose="02020603050405020304" pitchFamily="18" charset="0"/>
                <a:cs typeface="Times New Roman" panose="02020603050405020304" pitchFamily="18" charset="0"/>
              </a:rPr>
              <a:t> Includes metrics such as total population, total military manpower, fit for service, annual military age population, active personnel, reserve personnel, and paramilitary forces.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Financial Indicators:</a:t>
            </a:r>
            <a:r>
              <a:rPr lang="en-IN" sz="1600" dirty="0">
                <a:latin typeface="Times New Roman" panose="02020603050405020304" pitchFamily="18" charset="0"/>
                <a:cs typeface="Times New Roman" panose="02020603050405020304" pitchFamily="18" charset="0"/>
              </a:rPr>
              <a:t> Tracks critical economic data including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(in USD), external debt, purchasing power parity (PPP), and foreign exchange/gold reserves.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Air Power:</a:t>
            </a:r>
            <a:r>
              <a:rPr lang="en-IN" sz="1600" dirty="0">
                <a:latin typeface="Times New Roman" panose="02020603050405020304" pitchFamily="18" charset="0"/>
                <a:cs typeface="Times New Roman" panose="02020603050405020304" pitchFamily="18" charset="0"/>
              </a:rPr>
              <a:t> Detailed counts of total military aircraft, fighter aircraft, attack aircraft, transport, trainers, special mission, tanker aircraft, total helicopters, and attack helicopters.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Land Power:</a:t>
            </a:r>
            <a:r>
              <a:rPr lang="en-IN" sz="1600" dirty="0">
                <a:latin typeface="Times New Roman" panose="02020603050405020304" pitchFamily="18" charset="0"/>
                <a:cs typeface="Times New Roman" panose="02020603050405020304" pitchFamily="18" charset="0"/>
              </a:rPr>
              <a:t> Metrics covering tanks, </a:t>
            </a:r>
            <a:r>
              <a:rPr lang="en-IN" sz="1600" dirty="0" err="1">
                <a:latin typeface="Times New Roman" panose="02020603050405020304" pitchFamily="18" charset="0"/>
                <a:cs typeface="Times New Roman" panose="02020603050405020304" pitchFamily="18" charset="0"/>
              </a:rPr>
              <a:t>armored</a:t>
            </a:r>
            <a:r>
              <a:rPr lang="en-IN" sz="1600" dirty="0">
                <a:latin typeface="Times New Roman" panose="02020603050405020304" pitchFamily="18" charset="0"/>
                <a:cs typeface="Times New Roman" panose="02020603050405020304" pitchFamily="18" charset="0"/>
              </a:rPr>
              <a:t> fighting vehicles, self-propelled artillery, towed artillery, and rocket projectors.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Naval Power:</a:t>
            </a:r>
            <a:r>
              <a:rPr lang="en-IN" sz="1600" dirty="0">
                <a:latin typeface="Times New Roman" panose="02020603050405020304" pitchFamily="18" charset="0"/>
                <a:cs typeface="Times New Roman" panose="02020603050405020304" pitchFamily="18" charset="0"/>
              </a:rPr>
              <a:t> Accounts for total naval fleet size, total fleet tonnage (MT), aircraft carriers, helicopter carriers, submarines, destroyers, frigates, corvettes, coastal patrol craft, and mine warfare craft.</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Logistics &amp; Geography:</a:t>
            </a:r>
            <a:r>
              <a:rPr lang="en-IN" sz="1600" dirty="0">
                <a:latin typeface="Times New Roman" panose="02020603050405020304" pitchFamily="18" charset="0"/>
                <a:cs typeface="Times New Roman" panose="02020603050405020304" pitchFamily="18" charset="0"/>
              </a:rPr>
              <a:t> Quantifies logistical endurance and geographic footprint through total serviceable airports, </a:t>
            </a:r>
            <a:r>
              <a:rPr lang="en-IN" sz="1600" dirty="0" err="1">
                <a:latin typeface="Times New Roman" panose="02020603050405020304" pitchFamily="18" charset="0"/>
                <a:cs typeface="Times New Roman" panose="02020603050405020304" pitchFamily="18" charset="0"/>
              </a:rPr>
              <a:t>labor</a:t>
            </a:r>
            <a:r>
              <a:rPr lang="en-IN" sz="1600" dirty="0">
                <a:latin typeface="Times New Roman" panose="02020603050405020304" pitchFamily="18" charset="0"/>
                <a:cs typeface="Times New Roman" panose="02020603050405020304" pitchFamily="18" charset="0"/>
              </a:rPr>
              <a:t> force, major ports and terminals, merchant marine fleets, railway and roadway coverage, land area, coastline, and shared borders.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Natural Resources:</a:t>
            </a:r>
            <a:r>
              <a:rPr lang="en-IN" sz="1600" dirty="0">
                <a:latin typeface="Times New Roman" panose="02020603050405020304" pitchFamily="18" charset="0"/>
                <a:cs typeface="Times New Roman" panose="02020603050405020304" pitchFamily="18" charset="0"/>
              </a:rPr>
              <a:t> Tracks production, consumption, and proven reserves for critical wartime resources: oil (in barrels), natural gas (in cubic meters), and coal (in metric tons/cubic meters).</a:t>
            </a:r>
          </a:p>
        </p:txBody>
      </p:sp>
      <p:pic>
        <p:nvPicPr>
          <p:cNvPr id="7" name="Picture 6">
            <a:extLst>
              <a:ext uri="{FF2B5EF4-FFF2-40B4-BE49-F238E27FC236}">
                <a16:creationId xmlns:a16="http://schemas.microsoft.com/office/drawing/2014/main" id="{A25AD8AE-DEB9-5040-5545-B4157BE81A9A}"/>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186699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9E86-8451-BC29-720F-2AB8F52724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047CD8-2648-50E3-0336-D3CC5DD6887E}"/>
              </a:ext>
            </a:extLst>
          </p:cNvPr>
          <p:cNvSpPr txBox="1"/>
          <p:nvPr/>
        </p:nvSpPr>
        <p:spPr>
          <a:xfrm>
            <a:off x="1443374" y="605974"/>
            <a:ext cx="8761329"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Proposed Data Visualization </a:t>
            </a:r>
            <a:r>
              <a:rPr lang="en-US" sz="4000" b="1" dirty="0" err="1">
                <a:solidFill>
                  <a:schemeClr val="dk1"/>
                </a:solidFill>
                <a:latin typeface="Times New Roman" panose="02020603050405020304" pitchFamily="18" charset="0"/>
                <a:ea typeface="Calibri" panose="020F0502020204030204"/>
                <a:cs typeface="Times New Roman" panose="02020603050405020304" pitchFamily="18" charset="0"/>
              </a:rPr>
              <a:t>Approch</a:t>
            </a:r>
            <a:endParaRPr lang="en-US" sz="4000" b="1" dirty="0">
              <a:solidFill>
                <a:schemeClr val="dk1"/>
              </a:solidFill>
              <a:latin typeface="Times New Roman" panose="02020603050405020304" pitchFamily="18" charset="0"/>
              <a:ea typeface="Calibri" panose="020F0502020204030204"/>
              <a:cs typeface="Times New Roman" panose="02020603050405020304" pitchFamily="18" charset="0"/>
            </a:endParaRPr>
          </a:p>
          <a:p>
            <a:endParaRPr lang="en-IN" dirty="0"/>
          </a:p>
        </p:txBody>
      </p:sp>
      <p:sp>
        <p:nvSpPr>
          <p:cNvPr id="3" name="Rectangle 1">
            <a:extLst>
              <a:ext uri="{FF2B5EF4-FFF2-40B4-BE49-F238E27FC236}">
                <a16:creationId xmlns:a16="http://schemas.microsoft.com/office/drawing/2014/main" id="{D55532B4-F0A7-981B-3684-5DCFF65EFAFB}"/>
              </a:ext>
            </a:extLst>
          </p:cNvPr>
          <p:cNvSpPr>
            <a:spLocks noGrp="1" noChangeArrowheads="1"/>
          </p:cNvSpPr>
          <p:nvPr>
            <p:ph type="body" idx="1"/>
          </p:nvPr>
        </p:nvSpPr>
        <p:spPr bwMode="auto">
          <a:xfrm>
            <a:off x="903878" y="1457768"/>
            <a:ext cx="9597663" cy="444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1: The Geopolitical Landscape:</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Choropleth Map</a:t>
            </a:r>
            <a:r>
              <a:rPr lang="en-IN" sz="1600" dirty="0">
                <a:latin typeface="Times New Roman" panose="02020603050405020304" pitchFamily="18" charset="0"/>
                <a:cs typeface="Times New Roman" panose="02020603050405020304" pitchFamily="18" charset="0"/>
              </a:rPr>
              <a:t> (diverging </a:t>
            </a: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 scale) to establish global military hierarchy by </a:t>
            </a:r>
            <a:r>
              <a:rPr lang="en-IN" sz="1600" dirty="0" err="1">
                <a:latin typeface="Times New Roman" panose="02020603050405020304" pitchFamily="18" charset="0"/>
                <a:cs typeface="Times New Roman" panose="02020603050405020304" pitchFamily="18" charset="0"/>
              </a:rPr>
              <a:t>PowerIndex</a:t>
            </a:r>
            <a:r>
              <a:rPr lang="en-IN" sz="1600" dirty="0">
                <a:latin typeface="Times New Roman" panose="02020603050405020304" pitchFamily="18" charset="0"/>
                <a:cs typeface="Times New Roman" panose="02020603050405020304" pitchFamily="18" charset="0"/>
              </a:rPr>
              <a:t>.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Bar/Ribbon Chart</a:t>
            </a:r>
            <a:r>
              <a:rPr lang="en-IN" sz="1600" dirty="0">
                <a:latin typeface="Times New Roman" panose="02020603050405020304" pitchFamily="18" charset="0"/>
                <a:cs typeface="Times New Roman" panose="02020603050405020304" pitchFamily="18" charset="0"/>
              </a:rPr>
              <a:t> for Top 10 Powers and a </a:t>
            </a:r>
            <a:r>
              <a:rPr lang="en-IN" sz="1600" b="1" dirty="0">
                <a:latin typeface="Times New Roman" panose="02020603050405020304" pitchFamily="18" charset="0"/>
                <a:cs typeface="Times New Roman" panose="02020603050405020304" pitchFamily="18" charset="0"/>
              </a:rPr>
              <a:t>KPI Banner</a:t>
            </a:r>
            <a:r>
              <a:rPr lang="en-IN" sz="1600" dirty="0">
                <a:latin typeface="Times New Roman" panose="02020603050405020304" pitchFamily="18" charset="0"/>
                <a:cs typeface="Times New Roman" panose="02020603050405020304" pitchFamily="18" charset="0"/>
              </a:rPr>
              <a:t> summarizing global totals.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2: Budget vs. Brawn (Resource Allocation):</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Efficiency Scatter Plot</a:t>
            </a:r>
            <a:r>
              <a:rPr lang="en-IN" sz="1600" dirty="0">
                <a:latin typeface="Times New Roman" panose="02020603050405020304" pitchFamily="18" charset="0"/>
                <a:cs typeface="Times New Roman" panose="02020603050405020304" pitchFamily="18" charset="0"/>
              </a:rPr>
              <a:t> (X: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Y: Active Personnel, Size: Total Hardware) to separate high-tech from manpower-heavy forces. </a:t>
            </a:r>
          </a:p>
          <a:p>
            <a:pPr marL="971550" lvl="1" indent="-285750">
              <a:buFont typeface="Wingdings" panose="05000000000000000000" pitchFamily="2" charset="2"/>
              <a:buChar char="§"/>
            </a:pPr>
            <a:r>
              <a:rPr lang="en-IN" sz="1600" b="1" dirty="0" err="1">
                <a:latin typeface="Times New Roman" panose="02020603050405020304" pitchFamily="18" charset="0"/>
                <a:cs typeface="Times New Roman" panose="02020603050405020304" pitchFamily="18" charset="0"/>
              </a:rPr>
              <a:t>Treemap</a:t>
            </a:r>
            <a:r>
              <a:rPr lang="en-IN" sz="1600" dirty="0">
                <a:latin typeface="Times New Roman" panose="02020603050405020304" pitchFamily="18" charset="0"/>
                <a:cs typeface="Times New Roman" panose="02020603050405020304" pitchFamily="18" charset="0"/>
              </a:rPr>
              <a:t> to display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spending concentration by global region.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3: Force Specialization (Domain Analysis):</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Triad Radar Chart</a:t>
            </a:r>
            <a:r>
              <a:rPr lang="en-IN" sz="1600" dirty="0">
                <a:latin typeface="Times New Roman" panose="02020603050405020304" pitchFamily="18" charset="0"/>
                <a:cs typeface="Times New Roman" panose="02020603050405020304" pitchFamily="18" charset="0"/>
              </a:rPr>
              <a:t> comparing domains (Army, Navy, Air Force) across nations.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100% Stacked Bar Chart</a:t>
            </a:r>
            <a:r>
              <a:rPr lang="en-IN" sz="1600" dirty="0">
                <a:latin typeface="Times New Roman" panose="02020603050405020304" pitchFamily="18" charset="0"/>
                <a:cs typeface="Times New Roman" panose="02020603050405020304" pitchFamily="18" charset="0"/>
              </a:rPr>
              <a:t> highlighting Naval vs. Air dominance ratios.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Advanced Interactive Features (DAX):</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"What-If" Alliance Builder:</a:t>
            </a:r>
            <a:r>
              <a:rPr lang="en-IN" sz="1600" dirty="0">
                <a:latin typeface="Times New Roman" panose="02020603050405020304" pitchFamily="18" charset="0"/>
                <a:cs typeface="Times New Roman" panose="02020603050405020304" pitchFamily="18" charset="0"/>
              </a:rPr>
              <a:t> Dynamic slicers to aggregate custom nation blocs and compare against superpowers.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Readiness Index &amp; Per-Capita Metrics:</a:t>
            </a:r>
            <a:r>
              <a:rPr lang="en-IN" sz="1600" dirty="0">
                <a:latin typeface="Times New Roman" panose="02020603050405020304" pitchFamily="18" charset="0"/>
                <a:cs typeface="Times New Roman" panose="02020603050405020304" pitchFamily="18" charset="0"/>
              </a:rPr>
              <a:t> Gauge/Bar charts calculating Active vs. Reserve ratios and population-adjusted militarization. </a:t>
            </a:r>
          </a:p>
        </p:txBody>
      </p:sp>
      <p:pic>
        <p:nvPicPr>
          <p:cNvPr id="5" name="Picture 4">
            <a:extLst>
              <a:ext uri="{FF2B5EF4-FFF2-40B4-BE49-F238E27FC236}">
                <a16:creationId xmlns:a16="http://schemas.microsoft.com/office/drawing/2014/main" id="{3C888E9C-366D-183B-B5DD-9A1727BF41FE}"/>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98184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ab29c3043a_0_85"/>
          <p:cNvSpPr txBox="1">
            <a:spLocks noGrp="1"/>
          </p:cNvSpPr>
          <p:nvPr>
            <p:ph type="body" idx="1"/>
          </p:nvPr>
        </p:nvSpPr>
        <p:spPr>
          <a:xfrm>
            <a:off x="869085" y="4994787"/>
            <a:ext cx="10515600" cy="1098508"/>
          </a:xfrm>
          <a:prstGeom prst="rect">
            <a:avLst/>
          </a:prstGeom>
        </p:spPr>
        <p:txBody>
          <a:bodyPr spcFirstLastPara="1" wrap="square" lIns="91425" tIns="45700" rIns="91425" bIns="45700" anchor="t" anchorCtr="0">
            <a:noAutofit/>
          </a:bodyPr>
          <a:lstStyle/>
          <a:p>
            <a:pPr marL="0" lvl="0" indent="0" algn="just" rtl="0">
              <a:lnSpc>
                <a:spcPct val="115000"/>
              </a:lnSpc>
              <a:spcBef>
                <a:spcPts val="1400"/>
              </a:spcBef>
              <a:spcAft>
                <a:spcPts val="0"/>
              </a:spcAft>
              <a:buNone/>
            </a:pPr>
            <a:endParaRPr lang="en-US" altLang="en-GB" sz="1600" b="1" dirty="0">
              <a:latin typeface="Times New Roman" panose="02020603050405020304" charset="0"/>
              <a:ea typeface="Arial" panose="020B0604020202020204"/>
              <a:cs typeface="Times New Roman" panose="02020603050405020304" charset="0"/>
              <a:sym typeface="Arial" panose="020B0604020202020204"/>
            </a:endParaRPr>
          </a:p>
          <a:p>
            <a:pPr marL="285750" indent="-285750" algn="just">
              <a:lnSpc>
                <a:spcPct val="115000"/>
              </a:lnSpc>
              <a:spcBef>
                <a:spcPts val="1400"/>
              </a:spcBef>
              <a:buFont typeface="Wingdings" panose="05000000000000000000" pitchFamily="2" charset="2"/>
              <a:buChar char="q"/>
            </a:pPr>
            <a:endParaRPr lang="en-US" altLang="en-GB" sz="1600" b="1" dirty="0">
              <a:latin typeface="Aptos Display" panose="020B0004020202020204" pitchFamily="34" charset="0"/>
              <a:ea typeface="Arial" panose="020B0604020202020204"/>
              <a:cs typeface="Times New Roman" panose="02020603050405020304" charset="0"/>
              <a:sym typeface="Arial" panose="020B0604020202020204"/>
            </a:endParaRPr>
          </a:p>
          <a:p>
            <a:pPr marL="0" lvl="0" indent="0" algn="just" rtl="0">
              <a:spcBef>
                <a:spcPts val="1200"/>
              </a:spcBef>
              <a:spcAft>
                <a:spcPts val="0"/>
              </a:spcAft>
              <a:buNone/>
            </a:pPr>
            <a:endParaRPr sz="1600" b="1" dirty="0">
              <a:latin typeface="Times New Roman" panose="02020603050405020304" charset="0"/>
              <a:ea typeface="Arial" panose="020B0604020202020204"/>
              <a:cs typeface="Times New Roman" panose="02020603050405020304" charset="0"/>
              <a:sym typeface="Arial" panose="020B0604020202020204"/>
            </a:endParaRPr>
          </a:p>
        </p:txBody>
      </p:sp>
      <p:sp>
        <p:nvSpPr>
          <p:cNvPr id="96" name="Google Shape;96;g3ab29c3043a_0_85"/>
          <p:cNvSpPr txBox="1"/>
          <p:nvPr/>
        </p:nvSpPr>
        <p:spPr>
          <a:xfrm>
            <a:off x="2697556" y="764705"/>
            <a:ext cx="5960400" cy="879600"/>
          </a:xfrm>
          <a:prstGeom prst="rect">
            <a:avLst/>
          </a:prstGeom>
          <a:noFill/>
          <a:ln>
            <a:noFill/>
          </a:ln>
        </p:spPr>
        <p:txBody>
          <a:bodyPr spcFirstLastPara="1" wrap="square" lIns="91425" tIns="91425" rIns="91425" bIns="91425" anchor="t" anchorCtr="0">
            <a:no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Project Requirements</a:t>
            </a:r>
            <a:endParaRPr sz="40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2" name="Picture 1">
            <a:extLst>
              <a:ext uri="{FF2B5EF4-FFF2-40B4-BE49-F238E27FC236}">
                <a16:creationId xmlns:a16="http://schemas.microsoft.com/office/drawing/2014/main" id="{11304536-21EF-C40E-ABF3-5745154CE494}"/>
              </a:ext>
            </a:extLst>
          </p:cNvPr>
          <p:cNvPicPr>
            <a:picLocks noChangeAspect="1"/>
          </p:cNvPicPr>
          <p:nvPr/>
        </p:nvPicPr>
        <p:blipFill>
          <a:blip r:embed="rId3"/>
          <a:stretch>
            <a:fillRect/>
          </a:stretch>
        </p:blipFill>
        <p:spPr>
          <a:xfrm>
            <a:off x="0" y="0"/>
            <a:ext cx="4124904" cy="676370"/>
          </a:xfrm>
          <a:prstGeom prst="rect">
            <a:avLst/>
          </a:prstGeom>
        </p:spPr>
      </p:pic>
      <p:sp>
        <p:nvSpPr>
          <p:cNvPr id="11" name="Rectangle 4">
            <a:extLst>
              <a:ext uri="{FF2B5EF4-FFF2-40B4-BE49-F238E27FC236}">
                <a16:creationId xmlns:a16="http://schemas.microsoft.com/office/drawing/2014/main" id="{4BBA73CE-76F8-F4D9-94EE-B26D6C7BCB6F}"/>
              </a:ext>
            </a:extLst>
          </p:cNvPr>
          <p:cNvSpPr>
            <a:spLocks noChangeArrowheads="1"/>
          </p:cNvSpPr>
          <p:nvPr/>
        </p:nvSpPr>
        <p:spPr bwMode="auto">
          <a:xfrm>
            <a:off x="869085" y="2214185"/>
            <a:ext cx="1018621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latin typeface="Times New Roman" panose="02020603050405020304" pitchFamily="18" charset="0"/>
                <a:cs typeface="Times New Roman" panose="02020603050405020304" pitchFamily="18" charset="0"/>
              </a:rPr>
              <a:t>Software Requirements:-</a:t>
            </a:r>
          </a:p>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Windows 10 / Windows 11 / Linux</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Tool: Microsoft Power BI Desktop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CSV/Excel Dataset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Cleaning:</a:t>
            </a:r>
            <a:r>
              <a:rPr lang="en-US" dirty="0">
                <a:latin typeface="Times New Roman" panose="02020603050405020304" pitchFamily="18" charset="0"/>
                <a:cs typeface="Times New Roman" panose="02020603050405020304" pitchFamily="18" charset="0"/>
              </a:rPr>
              <a:t> DAX (Power Query )and MS Excel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Web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Browser</a:t>
            </a:r>
            <a:r>
              <a:rPr lang="en-US" dirty="0">
                <a:latin typeface="Times New Roman" panose="02020603050405020304" pitchFamily="18" charset="0"/>
                <a:cs typeface="Times New Roman" panose="02020603050405020304" pitchFamily="18" charset="0"/>
              </a:rPr>
              <a:t>: Google Chrome or Microsoft Edge Software for Data Sets</a:t>
            </a:r>
          </a:p>
          <a:p>
            <a:pPr lvl="0"/>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Intel i3 / i5 or equivalent</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RAM:</a:t>
            </a:r>
            <a:r>
              <a:rPr lang="en-US" dirty="0">
                <a:latin typeface="Times New Roman" panose="02020603050405020304" pitchFamily="18" charset="0"/>
                <a:cs typeface="Times New Roman" panose="02020603050405020304" pitchFamily="18" charset="0"/>
              </a:rPr>
              <a:t> Minimum 8 GB (16 GB recommended) </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Hard Disk:</a:t>
            </a:r>
            <a:r>
              <a:rPr lang="en-US" dirty="0">
                <a:latin typeface="Times New Roman" panose="02020603050405020304" pitchFamily="18" charset="0"/>
                <a:cs typeface="Times New Roman" panose="02020603050405020304" pitchFamily="18" charset="0"/>
              </a:rPr>
              <a:t> Minimum 20 GB free space</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Display</a:t>
            </a:r>
            <a:r>
              <a:rPr lang="en-US" dirty="0">
                <a:latin typeface="Times New Roman" panose="02020603050405020304" pitchFamily="18" charset="0"/>
                <a:cs typeface="Times New Roman" panose="02020603050405020304" pitchFamily="18" charset="0"/>
              </a:rPr>
              <a:t>: 1366 × 768 resolution or higher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Internet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Connection</a:t>
            </a:r>
            <a:r>
              <a:rPr lang="en-US" dirty="0">
                <a:latin typeface="Times New Roman" panose="02020603050405020304" pitchFamily="18" charset="0"/>
                <a:cs typeface="Times New Roman" panose="02020603050405020304" pitchFamily="18" charset="0"/>
              </a:rPr>
              <a:t>: Required for downloading datasets and publishing reports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Keyboard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Mouse</a:t>
            </a:r>
            <a:r>
              <a:rPr lang="en-US" dirty="0">
                <a:latin typeface="Times New Roman" panose="02020603050405020304" pitchFamily="18" charset="0"/>
                <a:cs typeface="Times New Roman" panose="02020603050405020304" pitchFamily="18" charset="0"/>
              </a:rPr>
              <a:t>: Standard input devices</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endParaRPr lang="en-IN"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1. Data Architecture &amp; Preprocessing</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From raw dataset to an analysis-ready structure</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TextBox 7"/>
          <p:cNvSpPr txBox="1"/>
          <p:nvPr/>
        </p:nvSpPr>
        <p:spPr>
          <a:xfrm>
            <a:off x="822960" y="1508760"/>
            <a:ext cx="1828800" cy="320040"/>
          </a:xfrm>
          <a:prstGeom prst="rect">
            <a:avLst/>
          </a:prstGeom>
          <a:noFill/>
        </p:spPr>
        <p:txBody>
          <a:bodyPr wrap="square" anchor="t">
            <a:spAutoFit/>
          </a:bodyPr>
          <a:lstStyle/>
          <a:p>
            <a:pPr algn="l"/>
            <a:r>
              <a:rPr sz="1600" b="1" dirty="0">
                <a:solidFill>
                  <a:srgbClr val="233C69"/>
                </a:solidFill>
                <a:latin typeface="Times New Roman"/>
              </a:rPr>
              <a:t>Project workflow</a:t>
            </a:r>
          </a:p>
        </p:txBody>
      </p:sp>
      <p:sp>
        <p:nvSpPr>
          <p:cNvPr id="9" name="Rounded Rectangle 8"/>
          <p:cNvSpPr/>
          <p:nvPr/>
        </p:nvSpPr>
        <p:spPr>
          <a:xfrm>
            <a:off x="685800" y="2011680"/>
            <a:ext cx="205740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2148840"/>
            <a:ext cx="1728216" cy="320040"/>
          </a:xfrm>
          <a:prstGeom prst="rect">
            <a:avLst/>
          </a:prstGeom>
          <a:noFill/>
        </p:spPr>
        <p:txBody>
          <a:bodyPr wrap="square" anchor="t">
            <a:spAutoFit/>
          </a:bodyPr>
          <a:lstStyle/>
          <a:p>
            <a:pPr algn="l"/>
            <a:r>
              <a:rPr sz="1500" b="1">
                <a:solidFill>
                  <a:srgbClr val="233C69"/>
                </a:solidFill>
                <a:latin typeface="Times New Roman"/>
              </a:rPr>
              <a:t>Raw Dataset</a:t>
            </a:r>
          </a:p>
        </p:txBody>
      </p:sp>
      <p:sp>
        <p:nvSpPr>
          <p:cNvPr id="11" name="TextBox 10"/>
          <p:cNvSpPr txBox="1"/>
          <p:nvPr/>
        </p:nvSpPr>
        <p:spPr>
          <a:xfrm>
            <a:off x="850392" y="2542032"/>
            <a:ext cx="1728216" cy="777240"/>
          </a:xfrm>
          <a:prstGeom prst="rect">
            <a:avLst/>
          </a:prstGeom>
          <a:noFill/>
        </p:spPr>
        <p:txBody>
          <a:bodyPr wrap="square" anchor="t">
            <a:spAutoFit/>
          </a:bodyPr>
          <a:lstStyle/>
          <a:p>
            <a:pPr algn="l"/>
            <a:r>
              <a:rPr sz="1300" b="0">
                <a:solidFill>
                  <a:srgbClr val="232323"/>
                </a:solidFill>
                <a:latin typeface="Times New Roman"/>
              </a:rPr>
              <a:t>Global Military Firepower 2025</a:t>
            </a:r>
          </a:p>
        </p:txBody>
      </p:sp>
      <p:sp>
        <p:nvSpPr>
          <p:cNvPr id="12" name="TextBox 11"/>
          <p:cNvSpPr txBox="1"/>
          <p:nvPr/>
        </p:nvSpPr>
        <p:spPr>
          <a:xfrm>
            <a:off x="2761488" y="2487168"/>
            <a:ext cx="32004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13" name="Rounded Rectangle 12"/>
          <p:cNvSpPr/>
          <p:nvPr/>
        </p:nvSpPr>
        <p:spPr>
          <a:xfrm>
            <a:off x="2971800" y="2011680"/>
            <a:ext cx="205740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36392" y="2148840"/>
            <a:ext cx="1728216" cy="320040"/>
          </a:xfrm>
          <a:prstGeom prst="rect">
            <a:avLst/>
          </a:prstGeom>
          <a:noFill/>
        </p:spPr>
        <p:txBody>
          <a:bodyPr wrap="square" anchor="t">
            <a:spAutoFit/>
          </a:bodyPr>
          <a:lstStyle/>
          <a:p>
            <a:pPr algn="l"/>
            <a:r>
              <a:rPr sz="1500" b="1">
                <a:solidFill>
                  <a:srgbClr val="D6702D"/>
                </a:solidFill>
                <a:latin typeface="Times New Roman"/>
              </a:rPr>
              <a:t>Data Cleaning</a:t>
            </a:r>
          </a:p>
        </p:txBody>
      </p:sp>
      <p:sp>
        <p:nvSpPr>
          <p:cNvPr id="15" name="TextBox 14"/>
          <p:cNvSpPr txBox="1"/>
          <p:nvPr/>
        </p:nvSpPr>
        <p:spPr>
          <a:xfrm>
            <a:off x="3136392" y="2542032"/>
            <a:ext cx="1728216" cy="777240"/>
          </a:xfrm>
          <a:prstGeom prst="rect">
            <a:avLst/>
          </a:prstGeom>
          <a:noFill/>
        </p:spPr>
        <p:txBody>
          <a:bodyPr wrap="square" anchor="t">
            <a:spAutoFit/>
          </a:bodyPr>
          <a:lstStyle/>
          <a:p>
            <a:pPr algn="l"/>
            <a:r>
              <a:rPr sz="1300" b="0">
                <a:solidFill>
                  <a:srgbClr val="232323"/>
                </a:solidFill>
                <a:latin typeface="Times New Roman"/>
              </a:rPr>
              <a:t>Duplicate records addressed</a:t>
            </a:r>
          </a:p>
        </p:txBody>
      </p:sp>
      <p:sp>
        <p:nvSpPr>
          <p:cNvPr id="16" name="TextBox 15"/>
          <p:cNvSpPr txBox="1"/>
          <p:nvPr/>
        </p:nvSpPr>
        <p:spPr>
          <a:xfrm>
            <a:off x="5047488" y="2487168"/>
            <a:ext cx="32004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17" name="Rounded Rectangle 16"/>
          <p:cNvSpPr/>
          <p:nvPr/>
        </p:nvSpPr>
        <p:spPr>
          <a:xfrm>
            <a:off x="5257800" y="2011680"/>
            <a:ext cx="205740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22392" y="2148840"/>
            <a:ext cx="1728216" cy="320040"/>
          </a:xfrm>
          <a:prstGeom prst="rect">
            <a:avLst/>
          </a:prstGeom>
          <a:noFill/>
        </p:spPr>
        <p:txBody>
          <a:bodyPr wrap="square" anchor="t">
            <a:spAutoFit/>
          </a:bodyPr>
          <a:lstStyle/>
          <a:p>
            <a:pPr algn="l"/>
            <a:r>
              <a:rPr sz="1500" b="1">
                <a:solidFill>
                  <a:srgbClr val="233C69"/>
                </a:solidFill>
                <a:latin typeface="Times New Roman"/>
              </a:rPr>
              <a:t>Clean Dataset</a:t>
            </a:r>
          </a:p>
        </p:txBody>
      </p:sp>
      <p:sp>
        <p:nvSpPr>
          <p:cNvPr id="19" name="TextBox 18"/>
          <p:cNvSpPr txBox="1"/>
          <p:nvPr/>
        </p:nvSpPr>
        <p:spPr>
          <a:xfrm>
            <a:off x="5422392" y="2542032"/>
            <a:ext cx="1728216" cy="777240"/>
          </a:xfrm>
          <a:prstGeom prst="rect">
            <a:avLst/>
          </a:prstGeom>
          <a:noFill/>
        </p:spPr>
        <p:txBody>
          <a:bodyPr wrap="square" anchor="t">
            <a:spAutoFit/>
          </a:bodyPr>
          <a:lstStyle/>
          <a:p>
            <a:pPr algn="l"/>
            <a:r>
              <a:rPr sz="1300" b="0">
                <a:solidFill>
                  <a:srgbClr val="232323"/>
                </a:solidFill>
                <a:latin typeface="Times New Roman"/>
              </a:rPr>
              <a:t>Prepared for analysis</a:t>
            </a:r>
          </a:p>
        </p:txBody>
      </p:sp>
      <p:sp>
        <p:nvSpPr>
          <p:cNvPr id="20" name="TextBox 19"/>
          <p:cNvSpPr txBox="1"/>
          <p:nvPr/>
        </p:nvSpPr>
        <p:spPr>
          <a:xfrm>
            <a:off x="7333488" y="2487168"/>
            <a:ext cx="32004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21" name="Rounded Rectangle 20"/>
          <p:cNvSpPr/>
          <p:nvPr/>
        </p:nvSpPr>
        <p:spPr>
          <a:xfrm>
            <a:off x="7543800" y="2011680"/>
            <a:ext cx="205740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08392" y="2148840"/>
            <a:ext cx="1728216" cy="320040"/>
          </a:xfrm>
          <a:prstGeom prst="rect">
            <a:avLst/>
          </a:prstGeom>
          <a:noFill/>
        </p:spPr>
        <p:txBody>
          <a:bodyPr wrap="square" anchor="t">
            <a:spAutoFit/>
          </a:bodyPr>
          <a:lstStyle/>
          <a:p>
            <a:pPr algn="l"/>
            <a:r>
              <a:rPr sz="1500" b="1">
                <a:solidFill>
                  <a:srgbClr val="233C69"/>
                </a:solidFill>
                <a:latin typeface="Times New Roman"/>
              </a:rPr>
              <a:t>Pivot Analysis</a:t>
            </a:r>
          </a:p>
        </p:txBody>
      </p:sp>
      <p:sp>
        <p:nvSpPr>
          <p:cNvPr id="23" name="TextBox 22"/>
          <p:cNvSpPr txBox="1"/>
          <p:nvPr/>
        </p:nvSpPr>
        <p:spPr>
          <a:xfrm>
            <a:off x="7708392" y="2542032"/>
            <a:ext cx="1728216" cy="777240"/>
          </a:xfrm>
          <a:prstGeom prst="rect">
            <a:avLst/>
          </a:prstGeom>
          <a:noFill/>
        </p:spPr>
        <p:txBody>
          <a:bodyPr wrap="square" anchor="t">
            <a:spAutoFit/>
          </a:bodyPr>
          <a:lstStyle/>
          <a:p>
            <a:pPr algn="l"/>
            <a:r>
              <a:rPr sz="1300" b="0">
                <a:solidFill>
                  <a:srgbClr val="232323"/>
                </a:solidFill>
                <a:latin typeface="Times New Roman"/>
              </a:rPr>
              <a:t>Aggregations by country / region</a:t>
            </a:r>
          </a:p>
        </p:txBody>
      </p:sp>
      <p:sp>
        <p:nvSpPr>
          <p:cNvPr id="24" name="TextBox 23"/>
          <p:cNvSpPr txBox="1"/>
          <p:nvPr/>
        </p:nvSpPr>
        <p:spPr>
          <a:xfrm>
            <a:off x="9619488" y="2487168"/>
            <a:ext cx="32004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25" name="Rounded Rectangle 24"/>
          <p:cNvSpPr/>
          <p:nvPr/>
        </p:nvSpPr>
        <p:spPr>
          <a:xfrm>
            <a:off x="9829800" y="2011680"/>
            <a:ext cx="205740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94392" y="2148840"/>
            <a:ext cx="1728216" cy="320040"/>
          </a:xfrm>
          <a:prstGeom prst="rect">
            <a:avLst/>
          </a:prstGeom>
          <a:noFill/>
        </p:spPr>
        <p:txBody>
          <a:bodyPr wrap="square" anchor="t">
            <a:spAutoFit/>
          </a:bodyPr>
          <a:lstStyle/>
          <a:p>
            <a:pPr algn="l"/>
            <a:r>
              <a:rPr sz="1500" b="1">
                <a:solidFill>
                  <a:srgbClr val="233C69"/>
                </a:solidFill>
                <a:latin typeface="Times New Roman"/>
              </a:rPr>
              <a:t>Power BI</a:t>
            </a:r>
          </a:p>
        </p:txBody>
      </p:sp>
      <p:sp>
        <p:nvSpPr>
          <p:cNvPr id="27" name="TextBox 26"/>
          <p:cNvSpPr txBox="1"/>
          <p:nvPr/>
        </p:nvSpPr>
        <p:spPr>
          <a:xfrm>
            <a:off x="9994392" y="2542032"/>
            <a:ext cx="1728216" cy="777240"/>
          </a:xfrm>
          <a:prstGeom prst="rect">
            <a:avLst/>
          </a:prstGeom>
          <a:noFill/>
        </p:spPr>
        <p:txBody>
          <a:bodyPr wrap="square" anchor="t">
            <a:spAutoFit/>
          </a:bodyPr>
          <a:lstStyle/>
          <a:p>
            <a:pPr algn="l"/>
            <a:r>
              <a:rPr sz="1300" b="0">
                <a:solidFill>
                  <a:srgbClr val="232323"/>
                </a:solidFill>
                <a:latin typeface="Times New Roman"/>
              </a:rPr>
              <a:t>Interactive visualization</a:t>
            </a:r>
          </a:p>
        </p:txBody>
      </p:sp>
      <p:sp>
        <p:nvSpPr>
          <p:cNvPr id="29" name="TextBox 28"/>
          <p:cNvSpPr txBox="1"/>
          <p:nvPr/>
        </p:nvSpPr>
        <p:spPr>
          <a:xfrm>
            <a:off x="800100" y="4279392"/>
            <a:ext cx="10058400" cy="158504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Preprocessing Performed</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Duplicate country records were identified and removed.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Duplicate Asian country entries were removed to maintain data consistency.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The cleaned dataset was prepared for further analysis.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The final dataset was used for pivot-table analysis and Power BI visualization</a:t>
            </a:r>
            <a:r>
              <a:rPr lang="en-IN" dirty="0"/>
              <a:t>.</a:t>
            </a:r>
          </a:p>
          <a:p>
            <a:pPr>
              <a:spcAft>
                <a:spcPts val="700"/>
              </a:spcAft>
              <a:defRPr sz="1500">
                <a:solidFill>
                  <a:srgbClr val="232323"/>
                </a:solidFill>
                <a:latin typeface="Times New Roman"/>
              </a:defRPr>
            </a:pP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dirty="0">
                <a:solidFill>
                  <a:srgbClr val="232323"/>
                </a:solidFill>
                <a:latin typeface="Times New Roman"/>
              </a:rPr>
              <a:t>2. Exploratory Data Analysis &amp; Trend Mapping</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dirty="0">
                <a:solidFill>
                  <a:srgbClr val="5F5F5F"/>
                </a:solidFill>
                <a:latin typeface="Times New Roman"/>
              </a:rPr>
              <a:t>Pivot tables provide the analytical layer before dashboard visualization</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TextBox 7"/>
          <p:cNvSpPr txBox="1"/>
          <p:nvPr/>
        </p:nvSpPr>
        <p:spPr>
          <a:xfrm>
            <a:off x="822960" y="1417320"/>
            <a:ext cx="10424160" cy="338554"/>
          </a:xfrm>
          <a:prstGeom prst="rect">
            <a:avLst/>
          </a:prstGeom>
          <a:noFill/>
        </p:spPr>
        <p:txBody>
          <a:bodyPr wrap="square" anchor="t">
            <a:spAutoFit/>
          </a:bodyPr>
          <a:lstStyle/>
          <a:p>
            <a:pPr algn="ctr"/>
            <a:r>
              <a:rPr lang="en-IN" sz="1600" dirty="0">
                <a:latin typeface="Times New Roman" panose="02020603050405020304" pitchFamily="18" charset="0"/>
                <a:cs typeface="Times New Roman" panose="02020603050405020304" pitchFamily="18" charset="0"/>
              </a:rPr>
              <a:t>Pivot tables summarize key variables for exploratory analysis and dashboard development</a:t>
            </a:r>
            <a:r>
              <a:rPr lang="en-IN" sz="1600" dirty="0"/>
              <a:t>.</a:t>
            </a:r>
            <a:endParaRPr sz="1600" b="0" dirty="0">
              <a:solidFill>
                <a:srgbClr val="5F5F5F"/>
              </a:solidFill>
              <a:latin typeface="Times New Roman"/>
            </a:endParaRPr>
          </a:p>
        </p:txBody>
      </p:sp>
      <p:sp>
        <p:nvSpPr>
          <p:cNvPr id="9" name="Rounded Rectangle 8"/>
          <p:cNvSpPr/>
          <p:nvPr/>
        </p:nvSpPr>
        <p:spPr>
          <a:xfrm>
            <a:off x="685800" y="2057400"/>
            <a:ext cx="5074920" cy="150876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2194560"/>
            <a:ext cx="4745736" cy="320040"/>
          </a:xfrm>
          <a:prstGeom prst="rect">
            <a:avLst/>
          </a:prstGeom>
          <a:noFill/>
        </p:spPr>
        <p:txBody>
          <a:bodyPr wrap="square" anchor="t">
            <a:spAutoFit/>
          </a:bodyPr>
          <a:lstStyle/>
          <a:p>
            <a:pPr algn="l"/>
            <a:r>
              <a:rPr sz="1500" b="1">
                <a:solidFill>
                  <a:srgbClr val="233C69"/>
                </a:solidFill>
                <a:latin typeface="Times New Roman"/>
              </a:rPr>
              <a:t>Air Power</a:t>
            </a:r>
          </a:p>
        </p:txBody>
      </p:sp>
      <p:sp>
        <p:nvSpPr>
          <p:cNvPr id="11" name="TextBox 10"/>
          <p:cNvSpPr txBox="1"/>
          <p:nvPr/>
        </p:nvSpPr>
        <p:spPr>
          <a:xfrm>
            <a:off x="850392" y="2587752"/>
            <a:ext cx="4745736" cy="868680"/>
          </a:xfrm>
          <a:prstGeom prst="rect">
            <a:avLst/>
          </a:prstGeom>
          <a:noFill/>
        </p:spPr>
        <p:txBody>
          <a:bodyPr wrap="square" anchor="t">
            <a:spAutoFit/>
          </a:bodyPr>
          <a:lstStyle/>
          <a:p>
            <a:pPr algn="l"/>
            <a:r>
              <a:rPr sz="1300" b="0">
                <a:solidFill>
                  <a:srgbClr val="232323"/>
                </a:solidFill>
                <a:latin typeface="Times New Roman"/>
              </a:rPr>
              <a:t>PT1 Fighter Aircraft
PT3 Region-wise Aircraft
PT5 Attack Aircraft</a:t>
            </a:r>
          </a:p>
        </p:txBody>
      </p:sp>
      <p:sp>
        <p:nvSpPr>
          <p:cNvPr id="12" name="Rounded Rectangle 11"/>
          <p:cNvSpPr/>
          <p:nvPr/>
        </p:nvSpPr>
        <p:spPr>
          <a:xfrm>
            <a:off x="6080760" y="2057400"/>
            <a:ext cx="5074920" cy="150876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45352" y="2194560"/>
            <a:ext cx="4745736" cy="320040"/>
          </a:xfrm>
          <a:prstGeom prst="rect">
            <a:avLst/>
          </a:prstGeom>
          <a:noFill/>
        </p:spPr>
        <p:txBody>
          <a:bodyPr wrap="square" anchor="t">
            <a:spAutoFit/>
          </a:bodyPr>
          <a:lstStyle/>
          <a:p>
            <a:pPr algn="l"/>
            <a:r>
              <a:rPr sz="1500" b="1">
                <a:solidFill>
                  <a:srgbClr val="233C69"/>
                </a:solidFill>
                <a:latin typeface="Times New Roman"/>
              </a:rPr>
              <a:t>Population &amp; Manpower</a:t>
            </a:r>
          </a:p>
        </p:txBody>
      </p:sp>
      <p:sp>
        <p:nvSpPr>
          <p:cNvPr id="14" name="TextBox 13"/>
          <p:cNvSpPr txBox="1"/>
          <p:nvPr/>
        </p:nvSpPr>
        <p:spPr>
          <a:xfrm>
            <a:off x="6245352" y="2587752"/>
            <a:ext cx="4745736" cy="868680"/>
          </a:xfrm>
          <a:prstGeom prst="rect">
            <a:avLst/>
          </a:prstGeom>
          <a:noFill/>
        </p:spPr>
        <p:txBody>
          <a:bodyPr wrap="square" anchor="t">
            <a:spAutoFit/>
          </a:bodyPr>
          <a:lstStyle/>
          <a:p>
            <a:pPr algn="l"/>
            <a:r>
              <a:rPr sz="1300" b="0">
                <a:solidFill>
                  <a:srgbClr val="232323"/>
                </a:solidFill>
                <a:latin typeface="Times New Roman"/>
              </a:rPr>
              <a:t>PT2 Regional Population &amp; Manpower
PT4 Asian Population &amp; Manpower</a:t>
            </a:r>
          </a:p>
        </p:txBody>
      </p:sp>
      <p:sp>
        <p:nvSpPr>
          <p:cNvPr id="15" name="Rounded Rectangle 14"/>
          <p:cNvSpPr/>
          <p:nvPr/>
        </p:nvSpPr>
        <p:spPr>
          <a:xfrm>
            <a:off x="685800" y="4069080"/>
            <a:ext cx="5074920" cy="150876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4206240"/>
            <a:ext cx="4745736" cy="320040"/>
          </a:xfrm>
          <a:prstGeom prst="rect">
            <a:avLst/>
          </a:prstGeom>
          <a:noFill/>
        </p:spPr>
        <p:txBody>
          <a:bodyPr wrap="square" anchor="t">
            <a:spAutoFit/>
          </a:bodyPr>
          <a:lstStyle/>
          <a:p>
            <a:pPr algn="l"/>
            <a:r>
              <a:rPr sz="1500" b="1">
                <a:solidFill>
                  <a:srgbClr val="233C69"/>
                </a:solidFill>
                <a:latin typeface="Times New Roman"/>
              </a:rPr>
              <a:t>Naval, Military &amp; Geography</a:t>
            </a:r>
          </a:p>
        </p:txBody>
      </p:sp>
      <p:sp>
        <p:nvSpPr>
          <p:cNvPr id="17" name="TextBox 16"/>
          <p:cNvSpPr txBox="1"/>
          <p:nvPr/>
        </p:nvSpPr>
        <p:spPr>
          <a:xfrm>
            <a:off x="850392" y="4599432"/>
            <a:ext cx="4745736" cy="868680"/>
          </a:xfrm>
          <a:prstGeom prst="rect">
            <a:avLst/>
          </a:prstGeom>
          <a:noFill/>
        </p:spPr>
        <p:txBody>
          <a:bodyPr wrap="square" anchor="t">
            <a:spAutoFit/>
          </a:bodyPr>
          <a:lstStyle/>
          <a:p>
            <a:pPr algn="l"/>
            <a:r>
              <a:rPr sz="1300" b="0">
                <a:solidFill>
                  <a:srgbClr val="232323"/>
                </a:solidFill>
                <a:latin typeface="Times New Roman"/>
              </a:rPr>
              <a:t>PT6 Naval Fleet
PT7 Military Equipment
PT8 Sea Coverage
PT9 Land Coverage</a:t>
            </a:r>
          </a:p>
        </p:txBody>
      </p:sp>
      <p:sp>
        <p:nvSpPr>
          <p:cNvPr id="18" name="Rounded Rectangle 17"/>
          <p:cNvSpPr/>
          <p:nvPr/>
        </p:nvSpPr>
        <p:spPr>
          <a:xfrm>
            <a:off x="6080760" y="4069080"/>
            <a:ext cx="5074920" cy="150876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45352" y="4206240"/>
            <a:ext cx="4745736" cy="320040"/>
          </a:xfrm>
          <a:prstGeom prst="rect">
            <a:avLst/>
          </a:prstGeom>
          <a:noFill/>
        </p:spPr>
        <p:txBody>
          <a:bodyPr wrap="square" anchor="t">
            <a:spAutoFit/>
          </a:bodyPr>
          <a:lstStyle/>
          <a:p>
            <a:pPr algn="l"/>
            <a:r>
              <a:rPr sz="1500" b="1">
                <a:solidFill>
                  <a:srgbClr val="233C69"/>
                </a:solidFill>
                <a:latin typeface="Times New Roman"/>
              </a:rPr>
              <a:t>Resources</a:t>
            </a:r>
          </a:p>
        </p:txBody>
      </p:sp>
      <p:sp>
        <p:nvSpPr>
          <p:cNvPr id="20" name="TextBox 19"/>
          <p:cNvSpPr txBox="1"/>
          <p:nvPr/>
        </p:nvSpPr>
        <p:spPr>
          <a:xfrm>
            <a:off x="6245352" y="4599432"/>
            <a:ext cx="4745736" cy="868680"/>
          </a:xfrm>
          <a:prstGeom prst="rect">
            <a:avLst/>
          </a:prstGeom>
          <a:noFill/>
        </p:spPr>
        <p:txBody>
          <a:bodyPr wrap="square" anchor="t">
            <a:spAutoFit/>
          </a:bodyPr>
          <a:lstStyle/>
          <a:p>
            <a:pPr algn="l"/>
            <a:r>
              <a:rPr sz="1300" b="0">
                <a:solidFill>
                  <a:srgbClr val="232323"/>
                </a:solidFill>
                <a:latin typeface="Times New Roman"/>
              </a:rPr>
              <a:t>PT10 Coal
PT11 Natural Gas
PT12 Oil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2.1 Air Power Analysis</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PT1, PT3 and PT5</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Rounded Rectangle 7"/>
          <p:cNvSpPr/>
          <p:nvPr/>
        </p:nvSpPr>
        <p:spPr>
          <a:xfrm>
            <a:off x="451646" y="1508760"/>
            <a:ext cx="3708874" cy="3721608"/>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00686" y="1490472"/>
            <a:ext cx="3708874" cy="3721608"/>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01000" y="1508760"/>
            <a:ext cx="3657600" cy="3799332"/>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5394" y="5330952"/>
            <a:ext cx="10332720" cy="307777"/>
          </a:xfrm>
          <a:prstGeom prst="rect">
            <a:avLst/>
          </a:prstGeom>
          <a:noFill/>
        </p:spPr>
        <p:txBody>
          <a:bodyPr wrap="square" anchor="t">
            <a:spAutoFit/>
          </a:bodyPr>
          <a:lstStyle/>
          <a:p>
            <a:pPr algn="ctr"/>
            <a:r>
              <a:rPr lang="en-IN" sz="1400" b="1" dirty="0">
                <a:latin typeface="Times New Roman" panose="02020603050405020304" pitchFamily="18" charset="0"/>
                <a:cs typeface="Times New Roman" panose="02020603050405020304" pitchFamily="18" charset="0"/>
              </a:rPr>
              <a:t>Analysis Focus:</a:t>
            </a:r>
            <a:r>
              <a:rPr lang="en-IN" sz="1400" dirty="0">
                <a:latin typeface="Times New Roman" panose="02020603050405020304" pitchFamily="18" charset="0"/>
                <a:cs typeface="Times New Roman" panose="02020603050405020304" pitchFamily="18" charset="0"/>
              </a:rPr>
              <a:t> Compare fighter aircraft, attack aircraft, and total military aircraft across countries and regions</a:t>
            </a:r>
            <a:r>
              <a:rPr lang="en-IN" sz="1400" dirty="0"/>
              <a:t>.</a:t>
            </a:r>
            <a:endParaRPr sz="1400" b="0" dirty="0">
              <a:solidFill>
                <a:srgbClr val="5F5F5F"/>
              </a:solidFill>
              <a:latin typeface="Times New Roman"/>
            </a:endParaRPr>
          </a:p>
        </p:txBody>
      </p:sp>
      <p:pic>
        <p:nvPicPr>
          <p:cNvPr id="19" name="Picture 18">
            <a:extLst>
              <a:ext uri="{FF2B5EF4-FFF2-40B4-BE49-F238E27FC236}">
                <a16:creationId xmlns:a16="http://schemas.microsoft.com/office/drawing/2014/main" id="{476425A8-7D44-E636-C1FF-1744B4E005D7}"/>
              </a:ext>
            </a:extLst>
          </p:cNvPr>
          <p:cNvPicPr>
            <a:picLocks noChangeAspect="1"/>
          </p:cNvPicPr>
          <p:nvPr/>
        </p:nvPicPr>
        <p:blipFill>
          <a:blip r:embed="rId3"/>
          <a:stretch>
            <a:fillRect/>
          </a:stretch>
        </p:blipFill>
        <p:spPr>
          <a:xfrm>
            <a:off x="773430" y="1627632"/>
            <a:ext cx="3112770" cy="3279369"/>
          </a:xfrm>
          <a:prstGeom prst="rect">
            <a:avLst/>
          </a:prstGeom>
        </p:spPr>
      </p:pic>
      <p:pic>
        <p:nvPicPr>
          <p:cNvPr id="21" name="Picture 20">
            <a:extLst>
              <a:ext uri="{FF2B5EF4-FFF2-40B4-BE49-F238E27FC236}">
                <a16:creationId xmlns:a16="http://schemas.microsoft.com/office/drawing/2014/main" id="{614ABE48-1249-05B2-12C8-1BE184659B7F}"/>
              </a:ext>
            </a:extLst>
          </p:cNvPr>
          <p:cNvPicPr>
            <a:picLocks noChangeAspect="1"/>
          </p:cNvPicPr>
          <p:nvPr/>
        </p:nvPicPr>
        <p:blipFill>
          <a:blip r:embed="rId4"/>
          <a:stretch>
            <a:fillRect/>
          </a:stretch>
        </p:blipFill>
        <p:spPr>
          <a:xfrm>
            <a:off x="4479219" y="1600200"/>
            <a:ext cx="3345069" cy="3259518"/>
          </a:xfrm>
          <a:prstGeom prst="rect">
            <a:avLst/>
          </a:prstGeom>
        </p:spPr>
      </p:pic>
      <p:pic>
        <p:nvPicPr>
          <p:cNvPr id="25" name="Picture 24">
            <a:extLst>
              <a:ext uri="{FF2B5EF4-FFF2-40B4-BE49-F238E27FC236}">
                <a16:creationId xmlns:a16="http://schemas.microsoft.com/office/drawing/2014/main" id="{97B0BD07-8852-9968-CE22-BC5223B4E47B}"/>
              </a:ext>
            </a:extLst>
          </p:cNvPr>
          <p:cNvPicPr>
            <a:picLocks noChangeAspect="1"/>
          </p:cNvPicPr>
          <p:nvPr/>
        </p:nvPicPr>
        <p:blipFill>
          <a:blip r:embed="rId5"/>
          <a:stretch>
            <a:fillRect/>
          </a:stretch>
        </p:blipFill>
        <p:spPr>
          <a:xfrm>
            <a:off x="8125306" y="1649085"/>
            <a:ext cx="3533294" cy="31617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2.2 Population &amp; Military Manpower Analysis</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PT2 and PT4</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Rounded Rectangle 7"/>
          <p:cNvSpPr/>
          <p:nvPr/>
        </p:nvSpPr>
        <p:spPr>
          <a:xfrm>
            <a:off x="594360" y="1508760"/>
            <a:ext cx="5394960" cy="356616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1508760"/>
            <a:ext cx="5394960" cy="356616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394960"/>
            <a:ext cx="10332720" cy="584775"/>
          </a:xfrm>
          <a:prstGeom prst="rect">
            <a:avLst/>
          </a:prstGeom>
          <a:noFill/>
        </p:spPr>
        <p:txBody>
          <a:bodyPr wrap="square" anchor="t">
            <a:spAutoFit/>
          </a:bodyPr>
          <a:lstStyle/>
          <a:p>
            <a:pPr algn="ctr"/>
            <a:r>
              <a:rPr lang="en-IN" sz="1600" b="1" dirty="0">
                <a:latin typeface="Times New Roman" panose="02020603050405020304" pitchFamily="18" charset="0"/>
                <a:cs typeface="Times New Roman" panose="02020603050405020304" pitchFamily="18" charset="0"/>
              </a:rPr>
              <a:t>Analysis Focus:</a:t>
            </a:r>
            <a:r>
              <a:rPr lang="en-IN" sz="1600" dirty="0">
                <a:latin typeface="Times New Roman" panose="02020603050405020304" pitchFamily="18" charset="0"/>
                <a:cs typeface="Times New Roman" panose="02020603050405020304" pitchFamily="18" charset="0"/>
              </a:rPr>
              <a:t> Compare population and military manpower across regions and examine the corresponding distribution within Asian countries.</a:t>
            </a:r>
            <a:r>
              <a:rPr lang="en-US" sz="1600" b="0" dirty="0">
                <a:solidFill>
                  <a:srgbClr val="5F5F5F"/>
                </a:solidFill>
                <a:latin typeface="Times New Roman" panose="02020603050405020304" pitchFamily="18" charset="0"/>
                <a:cs typeface="Times New Roman" panose="02020603050405020304" pitchFamily="18" charset="0"/>
              </a:rPr>
              <a:t>.</a:t>
            </a:r>
          </a:p>
        </p:txBody>
      </p:sp>
      <p:pic>
        <p:nvPicPr>
          <p:cNvPr id="16" name="Picture 15">
            <a:extLst>
              <a:ext uri="{FF2B5EF4-FFF2-40B4-BE49-F238E27FC236}">
                <a16:creationId xmlns:a16="http://schemas.microsoft.com/office/drawing/2014/main" id="{466CAFDC-932A-6A35-CDD6-97E39182430B}"/>
              </a:ext>
            </a:extLst>
          </p:cNvPr>
          <p:cNvPicPr>
            <a:picLocks noChangeAspect="1"/>
          </p:cNvPicPr>
          <p:nvPr/>
        </p:nvPicPr>
        <p:blipFill>
          <a:blip r:embed="rId3"/>
          <a:stretch>
            <a:fillRect/>
          </a:stretch>
        </p:blipFill>
        <p:spPr>
          <a:xfrm>
            <a:off x="837232" y="1700783"/>
            <a:ext cx="4909216" cy="3090672"/>
          </a:xfrm>
          <a:prstGeom prst="rect">
            <a:avLst/>
          </a:prstGeom>
        </p:spPr>
      </p:pic>
      <p:pic>
        <p:nvPicPr>
          <p:cNvPr id="18" name="Picture 17">
            <a:extLst>
              <a:ext uri="{FF2B5EF4-FFF2-40B4-BE49-F238E27FC236}">
                <a16:creationId xmlns:a16="http://schemas.microsoft.com/office/drawing/2014/main" id="{B0619C33-6580-2EBA-B52A-C9CF0A3F250D}"/>
              </a:ext>
            </a:extLst>
          </p:cNvPr>
          <p:cNvPicPr>
            <a:picLocks noChangeAspect="1"/>
          </p:cNvPicPr>
          <p:nvPr/>
        </p:nvPicPr>
        <p:blipFill>
          <a:blip r:embed="rId4"/>
          <a:stretch>
            <a:fillRect/>
          </a:stretch>
        </p:blipFill>
        <p:spPr>
          <a:xfrm>
            <a:off x="6270521" y="1627631"/>
            <a:ext cx="5296639" cy="32726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2.3 Naval, Military &amp; Geographic Analysis</a:t>
            </a:r>
          </a:p>
        </p:txBody>
      </p:sp>
      <p:sp>
        <p:nvSpPr>
          <p:cNvPr id="6" name="TextBox 5"/>
          <p:cNvSpPr txBox="1"/>
          <p:nvPr/>
        </p:nvSpPr>
        <p:spPr>
          <a:xfrm>
            <a:off x="868680" y="944118"/>
            <a:ext cx="10332720" cy="347472"/>
          </a:xfrm>
          <a:prstGeom prst="rect">
            <a:avLst/>
          </a:prstGeom>
          <a:noFill/>
        </p:spPr>
        <p:txBody>
          <a:bodyPr wrap="square" anchor="t">
            <a:spAutoFit/>
          </a:bodyPr>
          <a:lstStyle/>
          <a:p>
            <a:pPr algn="ctr"/>
            <a:r>
              <a:rPr sz="1200" b="0" dirty="0">
                <a:solidFill>
                  <a:srgbClr val="5F5F5F"/>
                </a:solidFill>
                <a:latin typeface="Times New Roman"/>
              </a:rPr>
              <a:t>PT6, PT7, PT8 and PT9</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Rounded Rectangle 7"/>
          <p:cNvSpPr/>
          <p:nvPr/>
        </p:nvSpPr>
        <p:spPr>
          <a:xfrm>
            <a:off x="502920" y="1207008"/>
            <a:ext cx="5394960" cy="2267712"/>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1291590"/>
            <a:ext cx="5394960" cy="218313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3086100"/>
            <a:ext cx="4846320" cy="594360"/>
          </a:xfrm>
          <a:prstGeom prst="rect">
            <a:avLst/>
          </a:prstGeom>
          <a:noFill/>
        </p:spPr>
        <p:txBody>
          <a:bodyPr wrap="square" anchor="t">
            <a:spAutoFit/>
          </a:bodyPr>
          <a:lstStyle/>
          <a:p>
            <a:pPr algn="ctr"/>
            <a:r>
              <a:rPr sz="1200" b="0" dirty="0">
                <a:solidFill>
                  <a:srgbClr val="5F5F5F"/>
                </a:solidFill>
                <a:latin typeface="Times New Roman"/>
              </a:rPr>
              <a:t>PT7 — Submarines, Rocket Projectors, Naval Fleet &amp; Destroyers</a:t>
            </a:r>
          </a:p>
        </p:txBody>
      </p:sp>
      <p:sp>
        <p:nvSpPr>
          <p:cNvPr id="14" name="Rounded Rectangle 13"/>
          <p:cNvSpPr/>
          <p:nvPr/>
        </p:nvSpPr>
        <p:spPr>
          <a:xfrm>
            <a:off x="502920" y="3794760"/>
            <a:ext cx="5394960" cy="196596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39" y="5463540"/>
            <a:ext cx="4846320" cy="594360"/>
          </a:xfrm>
          <a:prstGeom prst="rect">
            <a:avLst/>
          </a:prstGeom>
          <a:noFill/>
        </p:spPr>
        <p:txBody>
          <a:bodyPr wrap="square" anchor="t">
            <a:spAutoFit/>
          </a:bodyPr>
          <a:lstStyle/>
          <a:p>
            <a:pPr algn="ctr"/>
            <a:r>
              <a:rPr sz="1200" b="0" dirty="0">
                <a:solidFill>
                  <a:srgbClr val="5F5F5F"/>
                </a:solidFill>
                <a:latin typeface="Times New Roman"/>
              </a:rPr>
              <a:t>PT8 — Country-wise Sea Coverage</a:t>
            </a:r>
          </a:p>
        </p:txBody>
      </p:sp>
      <p:sp>
        <p:nvSpPr>
          <p:cNvPr id="17" name="Rounded Rectangle 16"/>
          <p:cNvSpPr/>
          <p:nvPr/>
        </p:nvSpPr>
        <p:spPr>
          <a:xfrm>
            <a:off x="6172200" y="3794760"/>
            <a:ext cx="5394960" cy="196596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972" y="5417820"/>
            <a:ext cx="4846320" cy="594360"/>
          </a:xfrm>
          <a:prstGeom prst="rect">
            <a:avLst/>
          </a:prstGeom>
          <a:noFill/>
        </p:spPr>
        <p:txBody>
          <a:bodyPr wrap="square" anchor="t">
            <a:spAutoFit/>
          </a:bodyPr>
          <a:lstStyle/>
          <a:p>
            <a:pPr algn="ctr"/>
            <a:r>
              <a:rPr sz="1200" b="0" dirty="0">
                <a:solidFill>
                  <a:srgbClr val="5F5F5F"/>
                </a:solidFill>
                <a:latin typeface="Times New Roman"/>
              </a:rPr>
              <a:t>PT9 — Country-wise Land Coverage</a:t>
            </a:r>
          </a:p>
        </p:txBody>
      </p:sp>
      <p:pic>
        <p:nvPicPr>
          <p:cNvPr id="23" name="Picture 22">
            <a:extLst>
              <a:ext uri="{FF2B5EF4-FFF2-40B4-BE49-F238E27FC236}">
                <a16:creationId xmlns:a16="http://schemas.microsoft.com/office/drawing/2014/main" id="{CCF2F8D0-42CE-59EA-B054-1D47EC25FD32}"/>
              </a:ext>
            </a:extLst>
          </p:cNvPr>
          <p:cNvPicPr>
            <a:picLocks noChangeAspect="1"/>
          </p:cNvPicPr>
          <p:nvPr/>
        </p:nvPicPr>
        <p:blipFill>
          <a:blip r:embed="rId3"/>
          <a:stretch>
            <a:fillRect/>
          </a:stretch>
        </p:blipFill>
        <p:spPr>
          <a:xfrm>
            <a:off x="1164873" y="1293876"/>
            <a:ext cx="4071053" cy="1920240"/>
          </a:xfrm>
          <a:prstGeom prst="rect">
            <a:avLst/>
          </a:prstGeom>
        </p:spPr>
      </p:pic>
      <p:pic>
        <p:nvPicPr>
          <p:cNvPr id="27" name="Picture 26">
            <a:extLst>
              <a:ext uri="{FF2B5EF4-FFF2-40B4-BE49-F238E27FC236}">
                <a16:creationId xmlns:a16="http://schemas.microsoft.com/office/drawing/2014/main" id="{C9679AAA-605A-DAE6-0D2A-BF4A6287FC31}"/>
              </a:ext>
            </a:extLst>
          </p:cNvPr>
          <p:cNvPicPr>
            <a:picLocks noChangeAspect="1"/>
          </p:cNvPicPr>
          <p:nvPr/>
        </p:nvPicPr>
        <p:blipFill>
          <a:blip r:embed="rId4"/>
          <a:stretch>
            <a:fillRect/>
          </a:stretch>
        </p:blipFill>
        <p:spPr>
          <a:xfrm>
            <a:off x="6309360" y="1421892"/>
            <a:ext cx="5157545" cy="1504188"/>
          </a:xfrm>
          <a:prstGeom prst="rect">
            <a:avLst/>
          </a:prstGeom>
        </p:spPr>
      </p:pic>
      <p:pic>
        <p:nvPicPr>
          <p:cNvPr id="29" name="Picture 28">
            <a:extLst>
              <a:ext uri="{FF2B5EF4-FFF2-40B4-BE49-F238E27FC236}">
                <a16:creationId xmlns:a16="http://schemas.microsoft.com/office/drawing/2014/main" id="{B4A29787-E2E2-2CD1-49E2-9009E3F60464}"/>
              </a:ext>
            </a:extLst>
          </p:cNvPr>
          <p:cNvPicPr>
            <a:picLocks noChangeAspect="1"/>
          </p:cNvPicPr>
          <p:nvPr/>
        </p:nvPicPr>
        <p:blipFill>
          <a:blip r:embed="rId5"/>
          <a:stretch>
            <a:fillRect/>
          </a:stretch>
        </p:blipFill>
        <p:spPr>
          <a:xfrm>
            <a:off x="659137" y="3899916"/>
            <a:ext cx="5082524" cy="1479502"/>
          </a:xfrm>
          <a:prstGeom prst="rect">
            <a:avLst/>
          </a:prstGeom>
        </p:spPr>
      </p:pic>
      <p:pic>
        <p:nvPicPr>
          <p:cNvPr id="31" name="Picture 30">
            <a:extLst>
              <a:ext uri="{FF2B5EF4-FFF2-40B4-BE49-F238E27FC236}">
                <a16:creationId xmlns:a16="http://schemas.microsoft.com/office/drawing/2014/main" id="{E36F5132-AECD-5A2E-DF68-9ADBBB1E3A21}"/>
              </a:ext>
            </a:extLst>
          </p:cNvPr>
          <p:cNvPicPr>
            <a:picLocks noChangeAspect="1"/>
          </p:cNvPicPr>
          <p:nvPr/>
        </p:nvPicPr>
        <p:blipFill>
          <a:blip r:embed="rId6"/>
          <a:stretch>
            <a:fillRect/>
          </a:stretch>
        </p:blipFill>
        <p:spPr>
          <a:xfrm>
            <a:off x="6309360" y="3989439"/>
            <a:ext cx="5157546" cy="13641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2.4 Resource Consumption Analysis</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PT10, PT11 and PT12</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Rounded Rectangle 7"/>
          <p:cNvSpPr/>
          <p:nvPr/>
        </p:nvSpPr>
        <p:spPr>
          <a:xfrm>
            <a:off x="256032" y="1600200"/>
            <a:ext cx="3950208" cy="338328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926080"/>
            <a:ext cx="3383280" cy="307777"/>
          </a:xfrm>
          <a:prstGeom prst="rect">
            <a:avLst/>
          </a:prstGeom>
          <a:noFill/>
        </p:spPr>
        <p:txBody>
          <a:bodyPr wrap="square" anchor="t">
            <a:spAutoFit/>
          </a:bodyPr>
          <a:lstStyle/>
          <a:p>
            <a:pPr algn="ctr"/>
            <a:endParaRPr sz="1400" b="1" dirty="0">
              <a:solidFill>
                <a:srgbClr val="233C69"/>
              </a:solidFill>
              <a:latin typeface="Times New Roman"/>
            </a:endParaRPr>
          </a:p>
        </p:txBody>
      </p:sp>
      <p:sp>
        <p:nvSpPr>
          <p:cNvPr id="10" name="TextBox 9"/>
          <p:cNvSpPr txBox="1"/>
          <p:nvPr/>
        </p:nvSpPr>
        <p:spPr>
          <a:xfrm>
            <a:off x="777240" y="4572000"/>
            <a:ext cx="3108960" cy="594360"/>
          </a:xfrm>
          <a:prstGeom prst="rect">
            <a:avLst/>
          </a:prstGeom>
          <a:noFill/>
        </p:spPr>
        <p:txBody>
          <a:bodyPr wrap="square" anchor="t">
            <a:spAutoFit/>
          </a:bodyPr>
          <a:lstStyle/>
          <a:p>
            <a:pPr algn="ctr"/>
            <a:r>
              <a:rPr sz="1200" b="0" dirty="0">
                <a:solidFill>
                  <a:srgbClr val="5F5F5F"/>
                </a:solidFill>
                <a:latin typeface="Times New Roman"/>
              </a:rPr>
              <a:t>PT10 — Coal analysis</a:t>
            </a:r>
          </a:p>
        </p:txBody>
      </p:sp>
      <p:sp>
        <p:nvSpPr>
          <p:cNvPr id="11" name="Rounded Rectangle 10"/>
          <p:cNvSpPr/>
          <p:nvPr/>
        </p:nvSpPr>
        <p:spPr>
          <a:xfrm>
            <a:off x="4251960" y="1600200"/>
            <a:ext cx="3657600" cy="338328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3420" y="4481263"/>
            <a:ext cx="3108960" cy="594360"/>
          </a:xfrm>
          <a:prstGeom prst="rect">
            <a:avLst/>
          </a:prstGeom>
          <a:noFill/>
        </p:spPr>
        <p:txBody>
          <a:bodyPr wrap="square" anchor="t">
            <a:spAutoFit/>
          </a:bodyPr>
          <a:lstStyle/>
          <a:p>
            <a:pPr algn="ctr"/>
            <a:r>
              <a:rPr sz="1200" b="0" dirty="0">
                <a:solidFill>
                  <a:srgbClr val="5F5F5F"/>
                </a:solidFill>
                <a:latin typeface="Times New Roman"/>
              </a:rPr>
              <a:t>PT11 — Natural gas analysis</a:t>
            </a:r>
          </a:p>
        </p:txBody>
      </p:sp>
      <p:sp>
        <p:nvSpPr>
          <p:cNvPr id="14" name="Rounded Rectangle 13"/>
          <p:cNvSpPr/>
          <p:nvPr/>
        </p:nvSpPr>
        <p:spPr>
          <a:xfrm>
            <a:off x="8039712" y="1600200"/>
            <a:ext cx="3657600" cy="338328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14032" y="4443749"/>
            <a:ext cx="3108960" cy="594360"/>
          </a:xfrm>
          <a:prstGeom prst="rect">
            <a:avLst/>
          </a:prstGeom>
          <a:noFill/>
        </p:spPr>
        <p:txBody>
          <a:bodyPr wrap="square" anchor="t">
            <a:spAutoFit/>
          </a:bodyPr>
          <a:lstStyle/>
          <a:p>
            <a:pPr algn="ctr"/>
            <a:r>
              <a:rPr sz="1200" b="0" dirty="0">
                <a:solidFill>
                  <a:srgbClr val="5F5F5F"/>
                </a:solidFill>
                <a:latin typeface="Times New Roman"/>
              </a:rPr>
              <a:t>PT12 — Oil analysis</a:t>
            </a:r>
          </a:p>
        </p:txBody>
      </p:sp>
      <p:sp>
        <p:nvSpPr>
          <p:cNvPr id="17" name="TextBox 16"/>
          <p:cNvSpPr txBox="1"/>
          <p:nvPr/>
        </p:nvSpPr>
        <p:spPr>
          <a:xfrm>
            <a:off x="914400" y="5349240"/>
            <a:ext cx="10332720" cy="307777"/>
          </a:xfrm>
          <a:prstGeom prst="rect">
            <a:avLst/>
          </a:prstGeom>
          <a:noFill/>
        </p:spPr>
        <p:txBody>
          <a:bodyPr wrap="square" anchor="t">
            <a:spAutoFit/>
          </a:bodyPr>
          <a:lstStyle/>
          <a:p>
            <a:pPr algn="ctr"/>
            <a:r>
              <a:rPr lang="en-IN" sz="1400" b="1" dirty="0">
                <a:latin typeface="Times New Roman" panose="02020603050405020304" pitchFamily="18" charset="0"/>
                <a:cs typeface="Times New Roman" panose="02020603050405020304" pitchFamily="18" charset="0"/>
              </a:rPr>
              <a:t>Analysis Focus</a:t>
            </a:r>
            <a:r>
              <a:rPr lang="en-IN" sz="1400" dirty="0">
                <a:latin typeface="Times New Roman" panose="02020603050405020304" pitchFamily="18" charset="0"/>
                <a:cs typeface="Times New Roman" panose="02020603050405020304" pitchFamily="18" charset="0"/>
              </a:rPr>
              <a:t>: Compare regional resource production and consumption patterns.</a:t>
            </a:r>
            <a:endParaRPr sz="1400" b="0" dirty="0">
              <a:solidFill>
                <a:srgbClr val="5F5F5F"/>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ACC5C68B-AE0D-4333-5783-02540F563652}"/>
              </a:ext>
            </a:extLst>
          </p:cNvPr>
          <p:cNvPicPr>
            <a:picLocks noChangeAspect="1"/>
          </p:cNvPicPr>
          <p:nvPr/>
        </p:nvPicPr>
        <p:blipFill>
          <a:blip r:embed="rId3"/>
          <a:stretch>
            <a:fillRect/>
          </a:stretch>
        </p:blipFill>
        <p:spPr>
          <a:xfrm>
            <a:off x="4382112" y="1847088"/>
            <a:ext cx="3555266" cy="2542032"/>
          </a:xfrm>
          <a:prstGeom prst="rect">
            <a:avLst/>
          </a:prstGeom>
        </p:spPr>
      </p:pic>
      <p:pic>
        <p:nvPicPr>
          <p:cNvPr id="22" name="Picture 21">
            <a:extLst>
              <a:ext uri="{FF2B5EF4-FFF2-40B4-BE49-F238E27FC236}">
                <a16:creationId xmlns:a16="http://schemas.microsoft.com/office/drawing/2014/main" id="{D57D7E25-354F-6AA0-94D7-BA2410B7830D}"/>
              </a:ext>
            </a:extLst>
          </p:cNvPr>
          <p:cNvPicPr>
            <a:picLocks noChangeAspect="1"/>
          </p:cNvPicPr>
          <p:nvPr/>
        </p:nvPicPr>
        <p:blipFill>
          <a:blip r:embed="rId4"/>
          <a:stretch>
            <a:fillRect/>
          </a:stretch>
        </p:blipFill>
        <p:spPr>
          <a:xfrm>
            <a:off x="8199120" y="1884872"/>
            <a:ext cx="3383280" cy="2504248"/>
          </a:xfrm>
          <a:prstGeom prst="rect">
            <a:avLst/>
          </a:prstGeom>
        </p:spPr>
      </p:pic>
      <p:pic>
        <p:nvPicPr>
          <p:cNvPr id="30" name="Picture 29">
            <a:extLst>
              <a:ext uri="{FF2B5EF4-FFF2-40B4-BE49-F238E27FC236}">
                <a16:creationId xmlns:a16="http://schemas.microsoft.com/office/drawing/2014/main" id="{5CD1A869-C251-21FB-26E6-FA51C2655880}"/>
              </a:ext>
            </a:extLst>
          </p:cNvPr>
          <p:cNvPicPr>
            <a:picLocks noChangeAspect="1"/>
          </p:cNvPicPr>
          <p:nvPr/>
        </p:nvPicPr>
        <p:blipFill>
          <a:blip r:embed="rId5"/>
          <a:stretch>
            <a:fillRect/>
          </a:stretch>
        </p:blipFill>
        <p:spPr>
          <a:xfrm>
            <a:off x="392124" y="1869685"/>
            <a:ext cx="3585516" cy="258175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3. Core Dashboard Development &amp; UI/UX</a:t>
            </a: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Power BI transforms the analytical summaries into interactive visual views</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8" name="Rounded Rectangle 7"/>
          <p:cNvSpPr/>
          <p:nvPr/>
        </p:nvSpPr>
        <p:spPr>
          <a:xfrm>
            <a:off x="731520" y="1554480"/>
            <a:ext cx="256032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691639"/>
            <a:ext cx="2231136" cy="320040"/>
          </a:xfrm>
          <a:prstGeom prst="rect">
            <a:avLst/>
          </a:prstGeom>
          <a:noFill/>
        </p:spPr>
        <p:txBody>
          <a:bodyPr wrap="square" anchor="t">
            <a:spAutoFit/>
          </a:bodyPr>
          <a:lstStyle/>
          <a:p>
            <a:pPr algn="l"/>
            <a:r>
              <a:rPr sz="1500" b="1">
                <a:solidFill>
                  <a:srgbClr val="233C69"/>
                </a:solidFill>
                <a:latin typeface="Times New Roman"/>
              </a:rPr>
              <a:t>Data</a:t>
            </a:r>
          </a:p>
        </p:txBody>
      </p:sp>
      <p:sp>
        <p:nvSpPr>
          <p:cNvPr id="10" name="TextBox 9"/>
          <p:cNvSpPr txBox="1"/>
          <p:nvPr/>
        </p:nvSpPr>
        <p:spPr>
          <a:xfrm>
            <a:off x="896112" y="2084831"/>
            <a:ext cx="2231136" cy="777240"/>
          </a:xfrm>
          <a:prstGeom prst="rect">
            <a:avLst/>
          </a:prstGeom>
          <a:noFill/>
        </p:spPr>
        <p:txBody>
          <a:bodyPr wrap="square" anchor="t">
            <a:spAutoFit/>
          </a:bodyPr>
          <a:lstStyle/>
          <a:p>
            <a:pPr algn="l"/>
            <a:r>
              <a:rPr sz="1300" b="0">
                <a:solidFill>
                  <a:srgbClr val="232323"/>
                </a:solidFill>
                <a:latin typeface="Times New Roman"/>
              </a:rPr>
              <a:t>Cleaned Global Military Firepower dataset</a:t>
            </a:r>
          </a:p>
        </p:txBody>
      </p:sp>
      <p:sp>
        <p:nvSpPr>
          <p:cNvPr id="11" name="TextBox 10"/>
          <p:cNvSpPr txBox="1"/>
          <p:nvPr/>
        </p:nvSpPr>
        <p:spPr>
          <a:xfrm>
            <a:off x="3364992" y="2057400"/>
            <a:ext cx="41148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12" name="Rounded Rectangle 11"/>
          <p:cNvSpPr/>
          <p:nvPr/>
        </p:nvSpPr>
        <p:spPr>
          <a:xfrm>
            <a:off x="3794760" y="1554480"/>
            <a:ext cx="256032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59352" y="1691639"/>
            <a:ext cx="2231136" cy="320040"/>
          </a:xfrm>
          <a:prstGeom prst="rect">
            <a:avLst/>
          </a:prstGeom>
          <a:noFill/>
        </p:spPr>
        <p:txBody>
          <a:bodyPr wrap="square" anchor="t">
            <a:spAutoFit/>
          </a:bodyPr>
          <a:lstStyle/>
          <a:p>
            <a:pPr algn="l"/>
            <a:r>
              <a:rPr sz="1500" b="1">
                <a:solidFill>
                  <a:srgbClr val="233C69"/>
                </a:solidFill>
                <a:latin typeface="Times New Roman"/>
              </a:rPr>
              <a:t>Analysis</a:t>
            </a:r>
          </a:p>
        </p:txBody>
      </p:sp>
      <p:sp>
        <p:nvSpPr>
          <p:cNvPr id="14" name="TextBox 13"/>
          <p:cNvSpPr txBox="1"/>
          <p:nvPr/>
        </p:nvSpPr>
        <p:spPr>
          <a:xfrm>
            <a:off x="3959352" y="2084831"/>
            <a:ext cx="2231136" cy="777240"/>
          </a:xfrm>
          <a:prstGeom prst="rect">
            <a:avLst/>
          </a:prstGeom>
          <a:noFill/>
        </p:spPr>
        <p:txBody>
          <a:bodyPr wrap="square" anchor="t">
            <a:spAutoFit/>
          </a:bodyPr>
          <a:lstStyle/>
          <a:p>
            <a:pPr algn="l"/>
            <a:r>
              <a:rPr sz="1300" b="0">
                <a:solidFill>
                  <a:srgbClr val="232323"/>
                </a:solidFill>
                <a:latin typeface="Times New Roman"/>
              </a:rPr>
              <a:t>Pivot-table summaries and calculated fields</a:t>
            </a:r>
          </a:p>
        </p:txBody>
      </p:sp>
      <p:sp>
        <p:nvSpPr>
          <p:cNvPr id="15" name="TextBox 14"/>
          <p:cNvSpPr txBox="1"/>
          <p:nvPr/>
        </p:nvSpPr>
        <p:spPr>
          <a:xfrm>
            <a:off x="6428232" y="2057400"/>
            <a:ext cx="41148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16" name="Rounded Rectangle 15"/>
          <p:cNvSpPr/>
          <p:nvPr/>
        </p:nvSpPr>
        <p:spPr>
          <a:xfrm>
            <a:off x="6858000" y="1554480"/>
            <a:ext cx="256032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22592" y="1691639"/>
            <a:ext cx="2231136" cy="320040"/>
          </a:xfrm>
          <a:prstGeom prst="rect">
            <a:avLst/>
          </a:prstGeom>
          <a:noFill/>
        </p:spPr>
        <p:txBody>
          <a:bodyPr wrap="square" anchor="t">
            <a:spAutoFit/>
          </a:bodyPr>
          <a:lstStyle/>
          <a:p>
            <a:pPr algn="l"/>
            <a:r>
              <a:rPr sz="1500" b="1">
                <a:solidFill>
                  <a:srgbClr val="233C69"/>
                </a:solidFill>
                <a:latin typeface="Times New Roman"/>
              </a:rPr>
              <a:t>Power BI</a:t>
            </a:r>
          </a:p>
        </p:txBody>
      </p:sp>
      <p:sp>
        <p:nvSpPr>
          <p:cNvPr id="18" name="TextBox 17"/>
          <p:cNvSpPr txBox="1"/>
          <p:nvPr/>
        </p:nvSpPr>
        <p:spPr>
          <a:xfrm>
            <a:off x="7022592" y="2084831"/>
            <a:ext cx="2231136" cy="777240"/>
          </a:xfrm>
          <a:prstGeom prst="rect">
            <a:avLst/>
          </a:prstGeom>
          <a:noFill/>
        </p:spPr>
        <p:txBody>
          <a:bodyPr wrap="square" anchor="t">
            <a:spAutoFit/>
          </a:bodyPr>
          <a:lstStyle/>
          <a:p>
            <a:pPr algn="l"/>
            <a:r>
              <a:rPr sz="1300" b="0">
                <a:solidFill>
                  <a:srgbClr val="232323"/>
                </a:solidFill>
                <a:latin typeface="Times New Roman"/>
              </a:rPr>
              <a:t>Interactive maps, charts and filters</a:t>
            </a:r>
          </a:p>
        </p:txBody>
      </p:sp>
      <p:sp>
        <p:nvSpPr>
          <p:cNvPr id="19" name="TextBox 18"/>
          <p:cNvSpPr txBox="1"/>
          <p:nvPr/>
        </p:nvSpPr>
        <p:spPr>
          <a:xfrm>
            <a:off x="9491472" y="2057400"/>
            <a:ext cx="411480" cy="320040"/>
          </a:xfrm>
          <a:prstGeom prst="rect">
            <a:avLst/>
          </a:prstGeom>
          <a:noFill/>
        </p:spPr>
        <p:txBody>
          <a:bodyPr wrap="square" anchor="t">
            <a:spAutoFit/>
          </a:bodyPr>
          <a:lstStyle/>
          <a:p>
            <a:pPr algn="ctr"/>
            <a:r>
              <a:rPr sz="1800" b="1">
                <a:solidFill>
                  <a:srgbClr val="D6702D"/>
                </a:solidFill>
                <a:latin typeface="Times New Roman"/>
              </a:rPr>
              <a:t>→</a:t>
            </a:r>
          </a:p>
        </p:txBody>
      </p:sp>
      <p:sp>
        <p:nvSpPr>
          <p:cNvPr id="20" name="Rounded Rectangle 19"/>
          <p:cNvSpPr/>
          <p:nvPr/>
        </p:nvSpPr>
        <p:spPr>
          <a:xfrm>
            <a:off x="9921240" y="1554480"/>
            <a:ext cx="164592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85832" y="1691639"/>
            <a:ext cx="1316736" cy="320040"/>
          </a:xfrm>
          <a:prstGeom prst="rect">
            <a:avLst/>
          </a:prstGeom>
          <a:noFill/>
        </p:spPr>
        <p:txBody>
          <a:bodyPr wrap="square" anchor="t">
            <a:spAutoFit/>
          </a:bodyPr>
          <a:lstStyle/>
          <a:p>
            <a:pPr algn="l"/>
            <a:r>
              <a:rPr sz="1500" b="1">
                <a:solidFill>
                  <a:srgbClr val="233C69"/>
                </a:solidFill>
                <a:latin typeface="Times New Roman"/>
              </a:rPr>
              <a:t>Insights</a:t>
            </a:r>
          </a:p>
        </p:txBody>
      </p:sp>
      <p:sp>
        <p:nvSpPr>
          <p:cNvPr id="22" name="TextBox 21"/>
          <p:cNvSpPr txBox="1"/>
          <p:nvPr/>
        </p:nvSpPr>
        <p:spPr>
          <a:xfrm>
            <a:off x="10085832" y="2084831"/>
            <a:ext cx="1316736" cy="777240"/>
          </a:xfrm>
          <a:prstGeom prst="rect">
            <a:avLst/>
          </a:prstGeom>
          <a:noFill/>
        </p:spPr>
        <p:txBody>
          <a:bodyPr wrap="square" anchor="t">
            <a:spAutoFit/>
          </a:bodyPr>
          <a:lstStyle/>
          <a:p>
            <a:pPr algn="l"/>
            <a:r>
              <a:rPr sz="1300" b="0">
                <a:solidFill>
                  <a:srgbClr val="232323"/>
                </a:solidFill>
                <a:latin typeface="Times New Roman"/>
              </a:rPr>
              <a:t>Visual comparison and trend interpretation</a:t>
            </a:r>
          </a:p>
        </p:txBody>
      </p:sp>
      <p:sp>
        <p:nvSpPr>
          <p:cNvPr id="23" name="TextBox 22"/>
          <p:cNvSpPr txBox="1"/>
          <p:nvPr/>
        </p:nvSpPr>
        <p:spPr>
          <a:xfrm>
            <a:off x="822960" y="3474720"/>
            <a:ext cx="10332720" cy="338554"/>
          </a:xfrm>
          <a:prstGeom prst="rect">
            <a:avLst/>
          </a:prstGeom>
          <a:noFill/>
        </p:spPr>
        <p:txBody>
          <a:bodyPr wrap="square" anchor="t">
            <a:spAutoFit/>
          </a:bodyPr>
          <a:lstStyle/>
          <a:p>
            <a:pPr algn="ctr"/>
            <a:r>
              <a:rPr sz="1600" b="1" dirty="0">
                <a:solidFill>
                  <a:srgbClr val="233C69"/>
                </a:solidFill>
                <a:latin typeface="Times New Roman"/>
              </a:rPr>
              <a:t>Current dashboard development</a:t>
            </a:r>
            <a:r>
              <a:rPr lang="en-IN" sz="1600" b="1" dirty="0">
                <a:solidFill>
                  <a:srgbClr val="233C69"/>
                </a:solidFill>
                <a:latin typeface="Times New Roman"/>
              </a:rPr>
              <a:t> &amp; UI /UX </a:t>
            </a:r>
            <a:r>
              <a:rPr sz="1600" b="1" dirty="0">
                <a:solidFill>
                  <a:srgbClr val="233C69"/>
                </a:solidFill>
                <a:latin typeface="Times New Roman"/>
              </a:rPr>
              <a:t>:</a:t>
            </a:r>
          </a:p>
        </p:txBody>
      </p:sp>
      <p:sp>
        <p:nvSpPr>
          <p:cNvPr id="24" name="TextBox 23"/>
          <p:cNvSpPr txBox="1"/>
          <p:nvPr/>
        </p:nvSpPr>
        <p:spPr>
          <a:xfrm>
            <a:off x="1737360" y="3956998"/>
            <a:ext cx="8503920" cy="1346522"/>
          </a:xfrm>
          <a:prstGeom prst="rect">
            <a:avLst/>
          </a:prstGeom>
          <a:noFill/>
        </p:spPr>
        <p:txBody>
          <a:bodyPr wrap="square">
            <a:spAutoFit/>
          </a:bodyPr>
          <a:lstStyle/>
          <a:p>
            <a:pPr>
              <a:spcAft>
                <a:spcPts val="700"/>
              </a:spcAft>
              <a:defRPr sz="1500">
                <a:solidFill>
                  <a:srgbClr val="232323"/>
                </a:solidFill>
                <a:latin typeface="Times New Roman"/>
              </a:defRPr>
            </a:pPr>
            <a:r>
              <a:rPr lang="en-IN" sz="1600" b="1" dirty="0">
                <a:solidFill>
                  <a:srgbClr val="232323"/>
                </a:solidFill>
                <a:latin typeface="Times New Roman"/>
              </a:rPr>
              <a:t>Geographical Distribution</a:t>
            </a:r>
            <a:r>
              <a:rPr lang="en-IN" sz="1600" dirty="0">
                <a:solidFill>
                  <a:srgbClr val="232323"/>
                </a:solidFill>
                <a:latin typeface="Times New Roman"/>
              </a:rPr>
              <a:t> — Map Chart</a:t>
            </a:r>
            <a:endParaRPr sz="1600" dirty="0"/>
          </a:p>
          <a:p>
            <a:pPr>
              <a:spcAft>
                <a:spcPts val="700"/>
              </a:spcAft>
              <a:defRPr sz="1500">
                <a:solidFill>
                  <a:srgbClr val="232323"/>
                </a:solidFill>
                <a:latin typeface="Times New Roman"/>
              </a:defRPr>
            </a:pPr>
            <a:r>
              <a:rPr lang="en-IN" sz="1600" b="1" dirty="0">
                <a:solidFill>
                  <a:srgbClr val="232323"/>
                </a:solidFill>
                <a:latin typeface="Times New Roman"/>
              </a:rPr>
              <a:t>Naval &amp; Support Equipment</a:t>
            </a:r>
            <a:r>
              <a:rPr lang="en-IN" sz="1600" dirty="0">
                <a:solidFill>
                  <a:srgbClr val="232323"/>
                </a:solidFill>
                <a:latin typeface="Times New Roman"/>
              </a:rPr>
              <a:t> — Submarines, Tankers &amp; Bunkers</a:t>
            </a:r>
            <a:endParaRPr sz="1600" dirty="0"/>
          </a:p>
          <a:p>
            <a:pPr>
              <a:spcAft>
                <a:spcPts val="700"/>
              </a:spcAft>
              <a:defRPr sz="1500">
                <a:solidFill>
                  <a:srgbClr val="232323"/>
                </a:solidFill>
                <a:latin typeface="Times New Roman"/>
              </a:defRPr>
            </a:pPr>
            <a:r>
              <a:rPr lang="en-IN" sz="1600" b="1" dirty="0">
                <a:solidFill>
                  <a:srgbClr val="232323"/>
                </a:solidFill>
                <a:latin typeface="Times New Roman"/>
              </a:rPr>
              <a:t>Air Power Analysis</a:t>
            </a:r>
            <a:r>
              <a:rPr lang="en-IN" sz="1600" dirty="0">
                <a:solidFill>
                  <a:srgbClr val="232323"/>
                </a:solidFill>
                <a:latin typeface="Times New Roman"/>
              </a:rPr>
              <a:t> — Country-wise Aircraft Bar Chart</a:t>
            </a:r>
            <a:endParaRPr sz="1600" dirty="0"/>
          </a:p>
          <a:p>
            <a:pPr>
              <a:spcAft>
                <a:spcPts val="700"/>
              </a:spcAft>
              <a:defRPr sz="1500">
                <a:solidFill>
                  <a:srgbClr val="232323"/>
                </a:solidFill>
                <a:latin typeface="Times New Roman"/>
              </a:defRPr>
            </a:pPr>
            <a:r>
              <a:rPr lang="en-IN" sz="1600" b="1" dirty="0">
                <a:solidFill>
                  <a:srgbClr val="232323"/>
                </a:solidFill>
                <a:latin typeface="Times New Roman"/>
              </a:rPr>
              <a:t>Resource Analysis</a:t>
            </a:r>
            <a:r>
              <a:rPr lang="en-IN" sz="1600" dirty="0">
                <a:solidFill>
                  <a:srgbClr val="232323"/>
                </a:solidFill>
                <a:latin typeface="Times New Roman"/>
              </a:rPr>
              <a:t> — Coal Consumption Pie Chart</a:t>
            </a:r>
            <a:endParaRPr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dirty="0">
                <a:solidFill>
                  <a:srgbClr val="232323"/>
                </a:solidFill>
                <a:latin typeface="Times New Roman"/>
              </a:rPr>
              <a:t>3.1 Power BI Dashboard — Visual Implementation</a:t>
            </a:r>
          </a:p>
        </p:txBody>
      </p:sp>
      <p:sp>
        <p:nvSpPr>
          <p:cNvPr id="6" name="TextBox 5"/>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7" name="Rounded Rectangle 6"/>
          <p:cNvSpPr/>
          <p:nvPr/>
        </p:nvSpPr>
        <p:spPr>
          <a:xfrm>
            <a:off x="594360" y="1417320"/>
            <a:ext cx="7452360" cy="4251960"/>
          </a:xfrm>
          <a:prstGeom prst="roundRect">
            <a:avLst/>
          </a:prstGeom>
          <a:solidFill>
            <a:srgbClr val="FCFDFF"/>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21040" y="1417320"/>
            <a:ext cx="292608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85632" y="1554480"/>
            <a:ext cx="2596896" cy="320040"/>
          </a:xfrm>
          <a:prstGeom prst="rect">
            <a:avLst/>
          </a:prstGeom>
          <a:noFill/>
        </p:spPr>
        <p:txBody>
          <a:bodyPr wrap="square" anchor="t">
            <a:spAutoFit/>
          </a:bodyPr>
          <a:lstStyle/>
          <a:p>
            <a:pPr algn="l"/>
            <a:r>
              <a:rPr sz="1500" b="1">
                <a:solidFill>
                  <a:srgbClr val="233C69"/>
                </a:solidFill>
                <a:latin typeface="Times New Roman"/>
              </a:rPr>
              <a:t>Purpose</a:t>
            </a:r>
          </a:p>
        </p:txBody>
      </p:sp>
      <p:sp>
        <p:nvSpPr>
          <p:cNvPr id="12" name="TextBox 11"/>
          <p:cNvSpPr txBox="1"/>
          <p:nvPr/>
        </p:nvSpPr>
        <p:spPr>
          <a:xfrm>
            <a:off x="8485632" y="1947672"/>
            <a:ext cx="2596896" cy="777240"/>
          </a:xfrm>
          <a:prstGeom prst="rect">
            <a:avLst/>
          </a:prstGeom>
          <a:noFill/>
        </p:spPr>
        <p:txBody>
          <a:bodyPr wrap="square" anchor="t">
            <a:spAutoFit/>
          </a:bodyPr>
          <a:lstStyle/>
          <a:p>
            <a:pPr algn="l"/>
            <a:r>
              <a:rPr sz="1300" b="0">
                <a:solidFill>
                  <a:srgbClr val="232323"/>
                </a:solidFill>
                <a:latin typeface="Times New Roman"/>
              </a:rPr>
              <a:t>Present military data through interactive visual comparisons.</a:t>
            </a:r>
          </a:p>
        </p:txBody>
      </p:sp>
      <p:sp>
        <p:nvSpPr>
          <p:cNvPr id="13" name="Rounded Rectangle 12"/>
          <p:cNvSpPr/>
          <p:nvPr/>
        </p:nvSpPr>
        <p:spPr>
          <a:xfrm>
            <a:off x="8321040" y="3063240"/>
            <a:ext cx="292608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85632" y="3200400"/>
            <a:ext cx="2596896" cy="320040"/>
          </a:xfrm>
          <a:prstGeom prst="rect">
            <a:avLst/>
          </a:prstGeom>
          <a:noFill/>
        </p:spPr>
        <p:txBody>
          <a:bodyPr wrap="square" anchor="t">
            <a:spAutoFit/>
          </a:bodyPr>
          <a:lstStyle/>
          <a:p>
            <a:pPr algn="l"/>
            <a:r>
              <a:rPr sz="1500" b="1">
                <a:solidFill>
                  <a:srgbClr val="D6702D"/>
                </a:solidFill>
                <a:latin typeface="Times New Roman"/>
              </a:rPr>
              <a:t>UI/UX Focus</a:t>
            </a:r>
          </a:p>
        </p:txBody>
      </p:sp>
      <p:sp>
        <p:nvSpPr>
          <p:cNvPr id="15" name="TextBox 14"/>
          <p:cNvSpPr txBox="1"/>
          <p:nvPr/>
        </p:nvSpPr>
        <p:spPr>
          <a:xfrm>
            <a:off x="8485632" y="3593592"/>
            <a:ext cx="2596896" cy="777240"/>
          </a:xfrm>
          <a:prstGeom prst="rect">
            <a:avLst/>
          </a:prstGeom>
          <a:noFill/>
        </p:spPr>
        <p:txBody>
          <a:bodyPr wrap="square" anchor="t">
            <a:spAutoFit/>
          </a:bodyPr>
          <a:lstStyle/>
          <a:p>
            <a:pPr algn="l"/>
            <a:r>
              <a:rPr sz="1300" b="0">
                <a:solidFill>
                  <a:srgbClr val="232323"/>
                </a:solidFill>
                <a:latin typeface="Times New Roman"/>
              </a:rPr>
              <a:t>Clear hierarchy, readable charts, filters and geographic context.</a:t>
            </a:r>
          </a:p>
        </p:txBody>
      </p:sp>
      <p:sp>
        <p:nvSpPr>
          <p:cNvPr id="16" name="Rounded Rectangle 15"/>
          <p:cNvSpPr/>
          <p:nvPr/>
        </p:nvSpPr>
        <p:spPr>
          <a:xfrm>
            <a:off x="8321040" y="4709160"/>
            <a:ext cx="2926080" cy="9601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85632" y="4846320"/>
            <a:ext cx="2596896" cy="320040"/>
          </a:xfrm>
          <a:prstGeom prst="rect">
            <a:avLst/>
          </a:prstGeom>
          <a:noFill/>
        </p:spPr>
        <p:txBody>
          <a:bodyPr wrap="square" anchor="t">
            <a:spAutoFit/>
          </a:bodyPr>
          <a:lstStyle/>
          <a:p>
            <a:pPr algn="l"/>
            <a:r>
              <a:rPr sz="1500" b="1">
                <a:solidFill>
                  <a:srgbClr val="233C69"/>
                </a:solidFill>
                <a:latin typeface="Times New Roman"/>
              </a:rPr>
              <a:t>Key Insight</a:t>
            </a:r>
          </a:p>
        </p:txBody>
      </p:sp>
      <p:sp>
        <p:nvSpPr>
          <p:cNvPr id="18" name="TextBox 17"/>
          <p:cNvSpPr txBox="1"/>
          <p:nvPr/>
        </p:nvSpPr>
        <p:spPr>
          <a:xfrm>
            <a:off x="8485632" y="5239512"/>
            <a:ext cx="2596896" cy="320040"/>
          </a:xfrm>
          <a:prstGeom prst="rect">
            <a:avLst/>
          </a:prstGeom>
          <a:noFill/>
        </p:spPr>
        <p:txBody>
          <a:bodyPr wrap="square" anchor="t">
            <a:spAutoFit/>
          </a:bodyPr>
          <a:lstStyle/>
          <a:p>
            <a:pPr algn="l"/>
            <a:r>
              <a:rPr sz="1300" b="0">
                <a:solidFill>
                  <a:srgbClr val="232323"/>
                </a:solidFill>
                <a:latin typeface="Times New Roman"/>
              </a:rPr>
              <a:t>Add only after the final dashboard screenshot is inserted and verified.</a:t>
            </a:r>
          </a:p>
        </p:txBody>
      </p:sp>
      <p:pic>
        <p:nvPicPr>
          <p:cNvPr id="22" name="Picture 21">
            <a:extLst>
              <a:ext uri="{FF2B5EF4-FFF2-40B4-BE49-F238E27FC236}">
                <a16:creationId xmlns:a16="http://schemas.microsoft.com/office/drawing/2014/main" id="{E2C728DB-52C5-D641-3844-D8926CA54816}"/>
              </a:ext>
            </a:extLst>
          </p:cNvPr>
          <p:cNvPicPr>
            <a:picLocks noChangeAspect="1"/>
          </p:cNvPicPr>
          <p:nvPr/>
        </p:nvPicPr>
        <p:blipFill>
          <a:blip r:embed="rId3"/>
          <a:stretch>
            <a:fillRect/>
          </a:stretch>
        </p:blipFill>
        <p:spPr>
          <a:xfrm>
            <a:off x="327543" y="1223373"/>
            <a:ext cx="7911201" cy="47467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507831"/>
          </a:xfrm>
          <a:prstGeom prst="rect">
            <a:avLst/>
          </a:prstGeom>
          <a:noFill/>
        </p:spPr>
        <p:txBody>
          <a:bodyPr wrap="square" anchor="t">
            <a:spAutoFit/>
          </a:bodyPr>
          <a:lstStyle/>
          <a:p>
            <a:pPr algn="ctr"/>
            <a:r>
              <a:rPr sz="2700" b="1" dirty="0">
                <a:solidFill>
                  <a:srgbClr val="232323"/>
                </a:solidFill>
                <a:latin typeface="Times New Roman"/>
              </a:rPr>
              <a:t>4. Advanced Analytic</a:t>
            </a:r>
            <a:r>
              <a:rPr lang="en-IN" sz="2700" b="1" dirty="0">
                <a:solidFill>
                  <a:srgbClr val="232323"/>
                </a:solidFill>
                <a:latin typeface="Times New Roman"/>
              </a:rPr>
              <a:t>al Dashboard</a:t>
            </a:r>
            <a:endParaRPr sz="2700" b="1" dirty="0">
              <a:solidFill>
                <a:srgbClr val="232323"/>
              </a:solidFill>
              <a:latin typeface="Times New Roman"/>
            </a:endParaRPr>
          </a:p>
        </p:txBody>
      </p:sp>
      <p:sp>
        <p:nvSpPr>
          <p:cNvPr id="6" name="TextBox 5"/>
          <p:cNvSpPr txBox="1"/>
          <p:nvPr/>
        </p:nvSpPr>
        <p:spPr>
          <a:xfrm>
            <a:off x="914400" y="1143000"/>
            <a:ext cx="10332720" cy="347472"/>
          </a:xfrm>
          <a:prstGeom prst="rect">
            <a:avLst/>
          </a:prstGeom>
          <a:noFill/>
        </p:spPr>
        <p:txBody>
          <a:bodyPr wrap="square" anchor="t">
            <a:spAutoFit/>
          </a:bodyPr>
          <a:lstStyle/>
          <a:p>
            <a:pPr algn="ctr"/>
            <a:r>
              <a:rPr sz="1200" b="0">
                <a:solidFill>
                  <a:srgbClr val="5F5F5F"/>
                </a:solidFill>
                <a:latin typeface="Times New Roman"/>
              </a:rPr>
              <a:t>Proposed capabilities from the original project objective</a:t>
            </a:r>
          </a:p>
        </p:txBody>
      </p:sp>
      <p:sp>
        <p:nvSpPr>
          <p:cNvPr id="7" name="TextBox 6"/>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17" name="TextBox 16"/>
          <p:cNvSpPr txBox="1"/>
          <p:nvPr/>
        </p:nvSpPr>
        <p:spPr>
          <a:xfrm>
            <a:off x="4695561" y="6035040"/>
            <a:ext cx="3191256" cy="868680"/>
          </a:xfrm>
          <a:prstGeom prst="rect">
            <a:avLst/>
          </a:prstGeom>
          <a:noFill/>
        </p:spPr>
        <p:txBody>
          <a:bodyPr wrap="square" anchor="t">
            <a:spAutoFit/>
          </a:bodyPr>
          <a:lstStyle/>
          <a:p>
            <a:pPr algn="l"/>
            <a:r>
              <a:rPr sz="1300" b="0" dirty="0">
                <a:solidFill>
                  <a:srgbClr val="232323"/>
                </a:solidFill>
                <a:latin typeface="Times New Roman"/>
              </a:rPr>
              <a:t>Population-adjusted military indicators.</a:t>
            </a:r>
          </a:p>
        </p:txBody>
      </p:sp>
      <p:sp>
        <p:nvSpPr>
          <p:cNvPr id="42" name="Rounded Rectangle 9">
            <a:extLst>
              <a:ext uri="{FF2B5EF4-FFF2-40B4-BE49-F238E27FC236}">
                <a16:creationId xmlns:a16="http://schemas.microsoft.com/office/drawing/2014/main" id="{966ED735-41A6-1BD3-39DE-8DFA0444155E}"/>
              </a:ext>
            </a:extLst>
          </p:cNvPr>
          <p:cNvSpPr/>
          <p:nvPr/>
        </p:nvSpPr>
        <p:spPr>
          <a:xfrm>
            <a:off x="8321040" y="1595628"/>
            <a:ext cx="2926080" cy="1307592"/>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9A157216-3CE6-E4D9-B2B5-8629F4F49202}"/>
              </a:ext>
            </a:extLst>
          </p:cNvPr>
          <p:cNvSpPr txBox="1"/>
          <p:nvPr/>
        </p:nvSpPr>
        <p:spPr>
          <a:xfrm>
            <a:off x="8485632" y="1687068"/>
            <a:ext cx="2596896" cy="320040"/>
          </a:xfrm>
          <a:prstGeom prst="rect">
            <a:avLst/>
          </a:prstGeom>
          <a:noFill/>
        </p:spPr>
        <p:txBody>
          <a:bodyPr wrap="square" anchor="t">
            <a:spAutoFit/>
          </a:bodyPr>
          <a:lstStyle/>
          <a:p>
            <a:pPr algn="l"/>
            <a:r>
              <a:rPr sz="1500" b="1" dirty="0">
                <a:solidFill>
                  <a:srgbClr val="233C69"/>
                </a:solidFill>
                <a:latin typeface="Times New Roman"/>
              </a:rPr>
              <a:t>Purpose</a:t>
            </a:r>
          </a:p>
        </p:txBody>
      </p:sp>
      <p:sp>
        <p:nvSpPr>
          <p:cNvPr id="46" name="TextBox 45">
            <a:extLst>
              <a:ext uri="{FF2B5EF4-FFF2-40B4-BE49-F238E27FC236}">
                <a16:creationId xmlns:a16="http://schemas.microsoft.com/office/drawing/2014/main" id="{0161E539-B584-B542-AC96-692CA8CF3895}"/>
              </a:ext>
            </a:extLst>
          </p:cNvPr>
          <p:cNvSpPr txBox="1"/>
          <p:nvPr/>
        </p:nvSpPr>
        <p:spPr>
          <a:xfrm>
            <a:off x="8485632" y="2098548"/>
            <a:ext cx="2596896" cy="777240"/>
          </a:xfrm>
          <a:prstGeom prst="rect">
            <a:avLst/>
          </a:prstGeom>
          <a:noFill/>
        </p:spPr>
        <p:txBody>
          <a:bodyPr wrap="square" anchor="t">
            <a:spAutoFit/>
          </a:bodyPr>
          <a:lstStyle/>
          <a:p>
            <a:pPr algn="l"/>
            <a:r>
              <a:rPr sz="1300" b="0">
                <a:solidFill>
                  <a:srgbClr val="232323"/>
                </a:solidFill>
                <a:latin typeface="Times New Roman"/>
              </a:rPr>
              <a:t>Present military data through interactive visual comparisons.</a:t>
            </a:r>
          </a:p>
        </p:txBody>
      </p:sp>
      <p:sp>
        <p:nvSpPr>
          <p:cNvPr id="48" name="Rounded Rectangle 12">
            <a:extLst>
              <a:ext uri="{FF2B5EF4-FFF2-40B4-BE49-F238E27FC236}">
                <a16:creationId xmlns:a16="http://schemas.microsoft.com/office/drawing/2014/main" id="{364FFE18-61C9-68B3-444E-920053A8730E}"/>
              </a:ext>
            </a:extLst>
          </p:cNvPr>
          <p:cNvSpPr/>
          <p:nvPr/>
        </p:nvSpPr>
        <p:spPr>
          <a:xfrm>
            <a:off x="8321040" y="3127248"/>
            <a:ext cx="2926080" cy="1417320"/>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8EBF83C3-3A9B-02DF-443B-AE51B81C61E1}"/>
              </a:ext>
            </a:extLst>
          </p:cNvPr>
          <p:cNvSpPr txBox="1"/>
          <p:nvPr/>
        </p:nvSpPr>
        <p:spPr>
          <a:xfrm>
            <a:off x="8485632" y="3200400"/>
            <a:ext cx="2596896" cy="320040"/>
          </a:xfrm>
          <a:prstGeom prst="rect">
            <a:avLst/>
          </a:prstGeom>
          <a:noFill/>
        </p:spPr>
        <p:txBody>
          <a:bodyPr wrap="square" anchor="t">
            <a:spAutoFit/>
          </a:bodyPr>
          <a:lstStyle/>
          <a:p>
            <a:pPr algn="l"/>
            <a:r>
              <a:rPr lang="en-IN" sz="1500" b="1" dirty="0">
                <a:solidFill>
                  <a:srgbClr val="D6702D"/>
                </a:solidFill>
                <a:latin typeface="Times New Roman"/>
              </a:rPr>
              <a:t>KPI Cards 	</a:t>
            </a:r>
            <a:endParaRPr sz="1500" b="1" dirty="0">
              <a:solidFill>
                <a:srgbClr val="D6702D"/>
              </a:solidFill>
              <a:latin typeface="Times New Roman"/>
            </a:endParaRPr>
          </a:p>
        </p:txBody>
      </p:sp>
      <p:sp>
        <p:nvSpPr>
          <p:cNvPr id="52" name="TextBox 51">
            <a:extLst>
              <a:ext uri="{FF2B5EF4-FFF2-40B4-BE49-F238E27FC236}">
                <a16:creationId xmlns:a16="http://schemas.microsoft.com/office/drawing/2014/main" id="{D204CEF7-7913-0403-E77C-F2FF0A60CE1C}"/>
              </a:ext>
            </a:extLst>
          </p:cNvPr>
          <p:cNvSpPr txBox="1"/>
          <p:nvPr/>
        </p:nvSpPr>
        <p:spPr>
          <a:xfrm>
            <a:off x="8485632" y="3593592"/>
            <a:ext cx="2596896" cy="892552"/>
          </a:xfrm>
          <a:prstGeom prst="rect">
            <a:avLst/>
          </a:prstGeom>
          <a:noFill/>
        </p:spPr>
        <p:txBody>
          <a:bodyPr wrap="square" anchor="t">
            <a:spAutoFit/>
          </a:bodyPr>
          <a:lstStyle/>
          <a:p>
            <a:pPr algn="l"/>
            <a:r>
              <a:rPr lang="en-IN" sz="1300" b="0" dirty="0">
                <a:solidFill>
                  <a:srgbClr val="232323"/>
                </a:solidFill>
                <a:latin typeface="Times New Roman"/>
              </a:rPr>
              <a:t>Key Performance indicators like Military Strength , Foreign Exchange</a:t>
            </a:r>
            <a:r>
              <a:rPr lang="en-IN" sz="1300" dirty="0">
                <a:solidFill>
                  <a:srgbClr val="232323"/>
                </a:solidFill>
                <a:latin typeface="Times New Roman"/>
              </a:rPr>
              <a:t>, Defence Budget , Water Coverage</a:t>
            </a:r>
            <a:endParaRPr sz="1300" b="0" dirty="0">
              <a:solidFill>
                <a:srgbClr val="232323"/>
              </a:solidFill>
              <a:latin typeface="Times New Roman"/>
            </a:endParaRPr>
          </a:p>
        </p:txBody>
      </p:sp>
      <p:sp>
        <p:nvSpPr>
          <p:cNvPr id="54" name="Rounded Rectangle 15">
            <a:extLst>
              <a:ext uri="{FF2B5EF4-FFF2-40B4-BE49-F238E27FC236}">
                <a16:creationId xmlns:a16="http://schemas.microsoft.com/office/drawing/2014/main" id="{C082D2F0-3A8F-2CB4-915F-4C0548EC81B8}"/>
              </a:ext>
            </a:extLst>
          </p:cNvPr>
          <p:cNvSpPr/>
          <p:nvPr/>
        </p:nvSpPr>
        <p:spPr>
          <a:xfrm>
            <a:off x="8321040" y="4709160"/>
            <a:ext cx="2926080" cy="1152144"/>
          </a:xfrm>
          <a:prstGeom prst="roundRect">
            <a:avLst/>
          </a:prstGeom>
          <a:solidFill>
            <a:srgbClr val="F8FAFD"/>
          </a:solidFill>
          <a:ln>
            <a:solidFill>
              <a:srgbClr val="BEC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B28F9D33-080D-8FFF-F49A-0A5AA08EA5B1}"/>
              </a:ext>
            </a:extLst>
          </p:cNvPr>
          <p:cNvSpPr txBox="1"/>
          <p:nvPr/>
        </p:nvSpPr>
        <p:spPr>
          <a:xfrm>
            <a:off x="8485632" y="4846320"/>
            <a:ext cx="2596896" cy="320040"/>
          </a:xfrm>
          <a:prstGeom prst="rect">
            <a:avLst/>
          </a:prstGeom>
          <a:noFill/>
        </p:spPr>
        <p:txBody>
          <a:bodyPr wrap="square" anchor="t">
            <a:spAutoFit/>
          </a:bodyPr>
          <a:lstStyle/>
          <a:p>
            <a:pPr algn="l"/>
            <a:r>
              <a:rPr sz="1500" b="1">
                <a:solidFill>
                  <a:srgbClr val="233C69"/>
                </a:solidFill>
                <a:latin typeface="Times New Roman"/>
              </a:rPr>
              <a:t>Key Insight</a:t>
            </a:r>
          </a:p>
        </p:txBody>
      </p:sp>
      <p:sp>
        <p:nvSpPr>
          <p:cNvPr id="58" name="TextBox 57">
            <a:extLst>
              <a:ext uri="{FF2B5EF4-FFF2-40B4-BE49-F238E27FC236}">
                <a16:creationId xmlns:a16="http://schemas.microsoft.com/office/drawing/2014/main" id="{4817D88C-F322-ECBE-8389-C215DED8AEE6}"/>
              </a:ext>
            </a:extLst>
          </p:cNvPr>
          <p:cNvSpPr txBox="1"/>
          <p:nvPr/>
        </p:nvSpPr>
        <p:spPr>
          <a:xfrm>
            <a:off x="8485632" y="5239512"/>
            <a:ext cx="2596896" cy="320040"/>
          </a:xfrm>
          <a:prstGeom prst="rect">
            <a:avLst/>
          </a:prstGeom>
          <a:noFill/>
        </p:spPr>
        <p:txBody>
          <a:bodyPr wrap="square" anchor="t">
            <a:spAutoFit/>
          </a:bodyPr>
          <a:lstStyle/>
          <a:p>
            <a:pPr algn="l"/>
            <a:r>
              <a:rPr sz="1300" b="0">
                <a:solidFill>
                  <a:srgbClr val="232323"/>
                </a:solidFill>
                <a:latin typeface="Times New Roman"/>
              </a:rPr>
              <a:t>Add only after the final dashboard screenshot is inserted and verified.</a:t>
            </a:r>
          </a:p>
        </p:txBody>
      </p:sp>
      <p:pic>
        <p:nvPicPr>
          <p:cNvPr id="60" name="Picture 59">
            <a:extLst>
              <a:ext uri="{FF2B5EF4-FFF2-40B4-BE49-F238E27FC236}">
                <a16:creationId xmlns:a16="http://schemas.microsoft.com/office/drawing/2014/main" id="{EB3A5802-EE62-F074-4EB0-626B1361F07F}"/>
              </a:ext>
            </a:extLst>
          </p:cNvPr>
          <p:cNvPicPr>
            <a:picLocks noChangeAspect="1"/>
          </p:cNvPicPr>
          <p:nvPr/>
        </p:nvPicPr>
        <p:blipFill>
          <a:blip r:embed="rId3"/>
          <a:stretch>
            <a:fillRect/>
          </a:stretch>
        </p:blipFill>
        <p:spPr>
          <a:xfrm>
            <a:off x="373316" y="1554480"/>
            <a:ext cx="7700608" cy="43068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4123944" cy="676656"/>
          </a:xfrm>
          <a:prstGeom prst="rect">
            <a:avLst/>
          </a:prstGeom>
        </p:spPr>
      </p:pic>
      <p:sp>
        <p:nvSpPr>
          <p:cNvPr id="3" name="Rectangle 2"/>
          <p:cNvSpPr/>
          <p:nvPr/>
        </p:nvSpPr>
        <p:spPr>
          <a:xfrm>
            <a:off x="10835640" y="0"/>
            <a:ext cx="1353312" cy="41148"/>
          </a:xfrm>
          <a:prstGeom prst="rect">
            <a:avLst/>
          </a:prstGeom>
          <a:solidFill>
            <a:srgbClr val="D67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41148"/>
            <a:ext cx="2542032" cy="22860"/>
          </a:xfrm>
          <a:prstGeom prst="rect">
            <a:avLst/>
          </a:prstGeom>
          <a:solidFill>
            <a:srgbClr val="233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10332720" cy="658368"/>
          </a:xfrm>
          <a:prstGeom prst="rect">
            <a:avLst/>
          </a:prstGeom>
          <a:noFill/>
        </p:spPr>
        <p:txBody>
          <a:bodyPr wrap="square" anchor="t">
            <a:spAutoFit/>
          </a:bodyPr>
          <a:lstStyle/>
          <a:p>
            <a:pPr algn="ctr"/>
            <a:r>
              <a:rPr sz="2700" b="1">
                <a:solidFill>
                  <a:srgbClr val="232323"/>
                </a:solidFill>
                <a:latin typeface="Times New Roman"/>
              </a:rPr>
              <a:t>Conclusion</a:t>
            </a:r>
          </a:p>
        </p:txBody>
      </p:sp>
      <p:sp>
        <p:nvSpPr>
          <p:cNvPr id="6" name="TextBox 5"/>
          <p:cNvSpPr txBox="1"/>
          <p:nvPr/>
        </p:nvSpPr>
        <p:spPr>
          <a:xfrm>
            <a:off x="548640" y="6446520"/>
            <a:ext cx="11064240" cy="228600"/>
          </a:xfrm>
          <a:prstGeom prst="rect">
            <a:avLst/>
          </a:prstGeom>
          <a:noFill/>
        </p:spPr>
        <p:txBody>
          <a:bodyPr wrap="square" anchor="t">
            <a:spAutoFit/>
          </a:bodyPr>
          <a:lstStyle/>
          <a:p>
            <a:pPr algn="r"/>
            <a:r>
              <a:rPr sz="900" b="0">
                <a:solidFill>
                  <a:srgbClr val="5F5F5F"/>
                </a:solidFill>
                <a:latin typeface="Times New Roman"/>
              </a:rPr>
              <a:t>Global Military Firepower Analysis Dashboard</a:t>
            </a:r>
          </a:p>
        </p:txBody>
      </p:sp>
      <p:sp>
        <p:nvSpPr>
          <p:cNvPr id="7" name="TextBox 6"/>
          <p:cNvSpPr txBox="1"/>
          <p:nvPr/>
        </p:nvSpPr>
        <p:spPr>
          <a:xfrm>
            <a:off x="548640" y="1418492"/>
            <a:ext cx="10607040" cy="449353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Dataset Preparation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Global Military Firepower 2025 dataset was cleaned and prepared for analysis.</a:t>
            </a:r>
          </a:p>
          <a:p>
            <a:pPr>
              <a:lnSpc>
                <a:spcPct val="150000"/>
              </a:lnSpc>
            </a:pPr>
            <a:r>
              <a:rPr lang="en-IN" b="1" dirty="0">
                <a:latin typeface="Times New Roman" panose="02020603050405020304" pitchFamily="18" charset="0"/>
                <a:cs typeface="Times New Roman" panose="02020603050405020304" pitchFamily="18" charset="0"/>
              </a:rPr>
              <a:t>Exploratory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Pivot-table analysis examined air power, population &amp; manpower, naval capabilities, geographic factors, and resource indicators.</a:t>
            </a:r>
          </a:p>
          <a:p>
            <a:pPr>
              <a:lnSpc>
                <a:spcPct val="150000"/>
              </a:lnSpc>
            </a:pPr>
            <a:r>
              <a:rPr lang="en-IN" b="1" dirty="0">
                <a:latin typeface="Times New Roman" panose="02020603050405020304" pitchFamily="18" charset="0"/>
                <a:cs typeface="Times New Roman" panose="02020603050405020304" pitchFamily="18" charset="0"/>
              </a:rPr>
              <a:t>Dashboard Development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data was structured for Power BI visualization and interactive exploration.</a:t>
            </a:r>
          </a:p>
          <a:p>
            <a:pPr>
              <a:lnSpc>
                <a:spcPct val="150000"/>
              </a:lnSpc>
            </a:pPr>
            <a:r>
              <a:rPr lang="en-IN" b="1" dirty="0">
                <a:latin typeface="Times New Roman" panose="02020603050405020304" pitchFamily="18" charset="0"/>
                <a:cs typeface="Times New Roman" panose="02020603050405020304" pitchFamily="18" charset="0"/>
              </a:rPr>
              <a:t>Analytical Outcome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project brings multiple military and resource indicators together for country-wise and region-wise comparison.</a:t>
            </a:r>
          </a:p>
          <a:p>
            <a:pPr>
              <a:spcAft>
                <a:spcPts val="700"/>
              </a:spcAft>
              <a:defRPr sz="1600">
                <a:solidFill>
                  <a:srgbClr val="232323"/>
                </a:solidFill>
                <a:latin typeface="Times New Roman"/>
              </a:defRPr>
            </a:pPr>
            <a:r>
              <a:rPr dirty="0"/>
              <a:t>.</a:t>
            </a:r>
          </a:p>
        </p:txBody>
      </p:sp>
      <p:sp>
        <p:nvSpPr>
          <p:cNvPr id="8" name="TextBox 7"/>
          <p:cNvSpPr txBox="1"/>
          <p:nvPr/>
        </p:nvSpPr>
        <p:spPr>
          <a:xfrm>
            <a:off x="914400" y="5486400"/>
            <a:ext cx="10241280" cy="502920"/>
          </a:xfrm>
          <a:prstGeom prst="rect">
            <a:avLst/>
          </a:prstGeom>
          <a:noFill/>
        </p:spPr>
        <p:txBody>
          <a:bodyPr wrap="square" anchor="t">
            <a:spAutoFit/>
          </a:bodyPr>
          <a:lstStyle/>
          <a:p>
            <a:pPr algn="ctr"/>
            <a:r>
              <a:rPr sz="1700" b="1" dirty="0">
                <a:solidFill>
                  <a:srgbClr val="233C69"/>
                </a:solidFill>
                <a:latin typeface="Times New Roman"/>
              </a:rPr>
              <a:t>Data Cleaning  →  Pivot Analysis  →  Power BI Visualization  →  Insights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
          <p:cNvSpPr txBox="1">
            <a:spLocks noGrp="1"/>
          </p:cNvSpPr>
          <p:nvPr>
            <p:ph type="body" idx="1"/>
          </p:nvPr>
        </p:nvSpPr>
        <p:spPr>
          <a:xfrm>
            <a:off x="47328" y="1412777"/>
            <a:ext cx="11337357" cy="1527068"/>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3200"/>
              <a:buNone/>
            </a:pPr>
            <a:endParaRPr sz="32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3200"/>
              <a:buNone/>
            </a:pPr>
            <a:endParaRPr sz="32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2800"/>
              <a:buNone/>
            </a:pPr>
            <a:r>
              <a:rPr lang="en-US" b="1" dirty="0">
                <a:latin typeface="Times New Roman" panose="02020603050405020304"/>
                <a:ea typeface="Times New Roman" panose="02020603050405020304"/>
                <a:cs typeface="Times New Roman" panose="02020603050405020304"/>
                <a:sym typeface="Times New Roman" panose="02020603050405020304"/>
              </a:rPr>
              <a:t>		</a:t>
            </a:r>
            <a:endParaRPr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Rounded Corners 1">
            <a:extLst>
              <a:ext uri="{FF2B5EF4-FFF2-40B4-BE49-F238E27FC236}">
                <a16:creationId xmlns:a16="http://schemas.microsoft.com/office/drawing/2014/main" id="{CDCB57FE-FB1D-1CC9-5249-298D380B1037}"/>
              </a:ext>
            </a:extLst>
          </p:cNvPr>
          <p:cNvSpPr/>
          <p:nvPr/>
        </p:nvSpPr>
        <p:spPr>
          <a:xfrm>
            <a:off x="2045110" y="1750142"/>
            <a:ext cx="7502013" cy="314632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C1FB361C-5AB5-69F8-B7F9-FB108DEC6ADE}"/>
              </a:ext>
            </a:extLst>
          </p:cNvPr>
          <p:cNvSpPr txBox="1"/>
          <p:nvPr/>
        </p:nvSpPr>
        <p:spPr>
          <a:xfrm>
            <a:off x="4208206" y="2861711"/>
            <a:ext cx="3775588" cy="83099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4800" dirty="0">
                <a:latin typeface="Algerian" panose="04020705040A02060702" pitchFamily="82" charset="0"/>
              </a:rPr>
              <a:t>THANK YOU </a:t>
            </a:r>
            <a:endParaRPr lang="en-IN" dirty="0">
              <a:latin typeface="Algerian" panose="04020705040A02060702" pitchFamily="82" charset="0"/>
            </a:endParaRPr>
          </a:p>
        </p:txBody>
      </p:sp>
      <p:pic>
        <p:nvPicPr>
          <p:cNvPr id="4" name="Picture 3">
            <a:extLst>
              <a:ext uri="{FF2B5EF4-FFF2-40B4-BE49-F238E27FC236}">
                <a16:creationId xmlns:a16="http://schemas.microsoft.com/office/drawing/2014/main" id="{1D8FF028-1F26-2EBA-D2A4-B16B294BEDDC}"/>
              </a:ext>
            </a:extLst>
          </p:cNvPr>
          <p:cNvPicPr>
            <a:picLocks noChangeAspect="1"/>
          </p:cNvPicPr>
          <p:nvPr/>
        </p:nvPicPr>
        <p:blipFill>
          <a:blip r:embed="rId3"/>
          <a:stretch>
            <a:fillRect/>
          </a:stretch>
        </p:blipFill>
        <p:spPr>
          <a:xfrm>
            <a:off x="0" y="0"/>
            <a:ext cx="4124904" cy="6763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874</TotalTime>
  <Words>1821</Words>
  <Application>Microsoft Office PowerPoint</Application>
  <PresentationFormat>Widescreen</PresentationFormat>
  <Paragraphs>178</Paragraphs>
  <Slides>19</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Algerian</vt:lpstr>
      <vt:lpstr>Aptos Display</vt:lpstr>
      <vt:lpstr>Arial</vt:lpstr>
      <vt:lpstr>Bell MT</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Bhanu Teja Gudi</cp:lastModifiedBy>
  <cp:revision>35</cp:revision>
  <dcterms:created xsi:type="dcterms:W3CDTF">2026-01-02T15:24:29Z</dcterms:created>
  <dcterms:modified xsi:type="dcterms:W3CDTF">2026-10-30T10:51:39Z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473FCBF87CDC444DB0EAC98A68FB20A8_12</vt:lpwstr>
  </property>
  <property fmtid="{D5CDD505-2E9C-101B-9397-08002B2CF9AE}" pid="3" name="KSOProductBuildVer">
    <vt:lpwstr>2057-12.2.0.23197</vt:lpwstr>
  </property>
</Properties>
</file>