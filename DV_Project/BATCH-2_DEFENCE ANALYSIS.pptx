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709" r:id="rId1"/>
  </p:sldMasterIdLst>
  <p:notesMasterIdLst>
    <p:notesMasterId r:id="rId11"/>
  </p:notesMasterIdLst>
  <p:sldIdLst>
    <p:sldId id="256" r:id="rId2"/>
    <p:sldId id="257" r:id="rId3"/>
    <p:sldId id="273" r:id="rId4"/>
    <p:sldId id="272" r:id="rId5"/>
    <p:sldId id="274" r:id="rId6"/>
    <p:sldId id="275" r:id="rId7"/>
    <p:sldId id="276" r:id="rId8"/>
    <p:sldId id="264"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B78C19D-8699-44D9-A94F-3A4031AB1B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4" d="100"/>
          <a:sy n="84" d="100"/>
        </p:scale>
        <p:origin x="629" y="101"/>
      </p:cViewPr>
      <p:guideLst>
        <p:guide orient="horz" pos="2160"/>
        <p:guide pos="38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t>‹#›</a:t>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32" name="Google Shape;32;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3" name="Google Shape;33;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 name="Google Shape;4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b29c3043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92" name="Google Shape;92;g3ab29c3043a_0_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g3ab29c3043a_0_8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AE0E-24AB-503E-A547-542FCFA94C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264FC6C-73D9-7490-2C62-32497DA8BC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F8282A-07A2-6A24-7E22-BD6400CF6645}"/>
              </a:ext>
            </a:extLst>
          </p:cNvPr>
          <p:cNvSpPr>
            <a:spLocks noGrp="1"/>
          </p:cNvSpPr>
          <p:nvPr>
            <p:ph type="dt" sz="half" idx="10"/>
          </p:nvPr>
        </p:nvSpPr>
        <p:spPr/>
        <p:txBody>
          <a:bodyPr/>
          <a:lstStyle/>
          <a:p>
            <a:fld id="{48A87A34-81AB-432B-8DAE-1953F412C126}" type="datetimeFigureOut">
              <a:rPr lang="en-US" smtClean="0"/>
              <a:t>8/9/2026</a:t>
            </a:fld>
            <a:endParaRPr lang="en-US" dirty="0"/>
          </a:p>
        </p:txBody>
      </p:sp>
      <p:sp>
        <p:nvSpPr>
          <p:cNvPr id="5" name="Footer Placeholder 4">
            <a:extLst>
              <a:ext uri="{FF2B5EF4-FFF2-40B4-BE49-F238E27FC236}">
                <a16:creationId xmlns:a16="http://schemas.microsoft.com/office/drawing/2014/main" id="{03E2F219-0913-5313-04E3-F1DE17C8CEA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FB33BC-4914-D8DB-FFA3-87B0093C06DE}"/>
              </a:ext>
            </a:extLst>
          </p:cNvPr>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757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F796B-1E9E-983A-1D51-42D0FB0157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748623-1EA7-E8D0-DC21-5C7A7C2DE6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D16845-6129-ACAC-7002-C7798F3425B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7A3F9B-A2AA-B4AC-B03A-832C951B45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212FA-F3A8-E78E-4F79-2D42CEAB740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926824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07510-C237-AF11-190A-673829133B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2F2101-280F-7C6A-D18B-FC5622A285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F41842-1300-0CA5-5A1C-1CB1C8149B5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0F5B5EC-B0A9-CF0A-7B43-C4B42EAC87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FA178E-D5E1-178C-2A4E-CEA9465AAFB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356662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9F8C6-51DA-74C8-AB6A-EF0DF25249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1C82ADE-ABBC-3393-93C8-2FC513EFAD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81E91BC-1141-189B-6E80-3CFDF92660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E02CF4-93A8-2CFD-728F-91AAE1DB888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659596D-3AB8-62A9-D3E5-76C9CB1EF0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58A216-0ED8-7F5D-507B-87779DA983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8223122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7D6BD-DF15-0514-1B53-AFD2A1F4AE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91528DA-74AD-09F4-956E-AD45CA0E3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C22744-377D-C3FE-8EEC-CFC1590D1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FA5A10-78F0-72B3-189F-A019C89C1F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79208-3A05-AF5F-8C18-7B96F2268E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8EBE89-DF44-6105-EEB2-EFBC0D59E432}"/>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0190CAEA-D47D-904D-7B36-9AC92FA32C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CEF944-A816-E6A1-BEBA-7104AFB620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16470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68455-7A97-4B34-1E00-1F3D55E1E8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FBC6D6-3363-9721-22AC-57BDBE7BA7D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D07198B-9BC5-1237-1C34-4288329966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2BFA23D-4451-94C9-E51B-015ACD9E11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0164325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4C93C1-AC9C-4A13-AABE-282A70428005}"/>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4604FD3-1E89-8CEF-ADCD-495D58413C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DBF53A0-7697-A01B-49C4-47A9EFBE090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52184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CD47-2B2E-188F-D955-E14F3037A2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FD7BBA-55D5-19EB-EE10-80BAAC08AD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99762EF-7C35-C113-605A-5239173E4D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CEE0E6-EDF4-DC9F-43C1-BF0EDBD7746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63664D-CE82-197D-32A5-0C48877721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6DC491-228F-3B96-A12B-72F7D23E74F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670026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9C73F-6A6B-7420-D56A-9F89C11AA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D69BC3-53D3-45DC-2F3B-E7C1007A3C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155057-DDEF-FCBA-6C27-BE56023E5E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A7B40A-41AA-A48B-1105-6D71AB9BC69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D0C47B0-7084-FCFD-027C-92201A0084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C01EAF-AAE6-35DC-81D1-1F0B7356AA4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126439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CAAD0-0641-8B7C-EB53-F79304613A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7DF6D41-6FC9-6F25-1BBC-D329015C46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762B1A-F5AD-DED6-AA6D-01FC7DD545B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E4B3746-F5C9-EDDF-EE90-82A669A70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F46E70-33FA-47A6-ED6E-B6409D3C627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9249632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8B4B1-2B95-D025-B606-ACD45159C5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F8D6B1-04A8-0C7B-B958-00003B7E3E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BAE541-063C-0AB7-FEE3-FAA3CC1B6C6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5E67BAA-E2D5-BB8B-9901-CB0C7B638A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A025C5-569A-DD89-748B-B612DE41E96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7806213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9"/>
        <p:cNvGrpSpPr/>
        <p:nvPr/>
      </p:nvGrpSpPr>
      <p:grpSpPr>
        <a:xfrm>
          <a:off x="0" y="0"/>
          <a:ext cx="0" cy="0"/>
          <a:chOff x="0" y="0"/>
          <a:chExt cx="0" cy="0"/>
        </a:xfrm>
      </p:grpSpPr>
      <p:sp>
        <p:nvSpPr>
          <p:cNvPr id="20" name="Google Shape;20;p7"/>
          <p:cNvSpPr txBox="1">
            <a:spLocks noGrp="1"/>
          </p:cNvSpPr>
          <p:nvPr>
            <p:ph type="body" idx="1"/>
          </p:nvPr>
        </p:nvSpPr>
        <p:spPr>
          <a:xfrm>
            <a:off x="869085" y="1561876"/>
            <a:ext cx="10515600" cy="45314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7"/>
          <p:cNvSpPr txBox="1">
            <a:spLocks noGrp="1"/>
          </p:cNvSpPr>
          <p:nvPr>
            <p:ph type="dt" idx="10"/>
          </p:nvPr>
        </p:nvSpPr>
        <p:spPr>
          <a:xfrm>
            <a:off x="695400" y="6278770"/>
            <a:ext cx="1656183"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7"/>
          <p:cNvSpPr txBox="1">
            <a:spLocks noGrp="1"/>
          </p:cNvSpPr>
          <p:nvPr>
            <p:ph type="ftr" idx="11"/>
          </p:nvPr>
        </p:nvSpPr>
        <p:spPr>
          <a:xfrm>
            <a:off x="2567608" y="6278771"/>
            <a:ext cx="691276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7"/>
          <p:cNvSpPr txBox="1">
            <a:spLocks noGrp="1"/>
          </p:cNvSpPr>
          <p:nvPr>
            <p:ph type="sldNum" idx="12"/>
          </p:nvPr>
        </p:nvSpPr>
        <p:spPr>
          <a:xfrm>
            <a:off x="10272464" y="6356350"/>
            <a:ext cx="108133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extLst>
      <p:ext uri="{BB962C8B-B14F-4D97-AF65-F5344CB8AC3E}">
        <p14:creationId xmlns:p14="http://schemas.microsoft.com/office/powerpoint/2010/main" val="3359968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3B70A0-6677-A445-D7D6-500EBD0FE2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912EF5-E430-94B1-6A8C-87C0F2A747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951C5D-C70E-153A-196E-D1554C3D5D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83791128-6E03-AC04-A189-248C71B6F9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9D5A705-43E0-F5A6-5B6F-8A6BD0E8F7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925303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Shape 34"/>
        <p:cNvGrpSpPr/>
        <p:nvPr/>
      </p:nvGrpSpPr>
      <p:grpSpPr>
        <a:xfrm>
          <a:off x="0" y="0"/>
          <a:ext cx="0" cy="0"/>
          <a:chOff x="0" y="0"/>
          <a:chExt cx="0" cy="0"/>
        </a:xfrm>
      </p:grpSpPr>
      <p:sp>
        <p:nvSpPr>
          <p:cNvPr id="35" name="Google Shape;35;p1"/>
          <p:cNvSpPr txBox="1"/>
          <p:nvPr/>
        </p:nvSpPr>
        <p:spPr>
          <a:xfrm>
            <a:off x="504834" y="1715730"/>
            <a:ext cx="10696612" cy="1944216"/>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endParaRPr sz="4000" b="1" i="0" u="none" strike="noStrike" cap="none">
              <a:solidFill>
                <a:srgbClr val="00B050"/>
              </a:solidFill>
              <a:latin typeface="Times New Roman" panose="02020603050405020304" charset="0"/>
              <a:ea typeface="Arial Rounded"/>
              <a:cs typeface="Times New Roman" panose="02020603050405020304" charset="0"/>
              <a:sym typeface="Arial Rounded"/>
            </a:endParaRPr>
          </a:p>
        </p:txBody>
      </p:sp>
      <p:sp>
        <p:nvSpPr>
          <p:cNvPr id="36" name="Google Shape;36;p1"/>
          <p:cNvSpPr txBox="1"/>
          <p:nvPr/>
        </p:nvSpPr>
        <p:spPr>
          <a:xfrm>
            <a:off x="295470" y="1351662"/>
            <a:ext cx="10696612" cy="936104"/>
          </a:xfrm>
          <a:prstGeom prst="rect">
            <a:avLst/>
          </a:prstGeom>
          <a:noFill/>
          <a:ln>
            <a:noFill/>
          </a:ln>
        </p:spPr>
        <p:txBody>
          <a:bodyPr spcFirstLastPara="1" wrap="square" lIns="91425" tIns="45700" rIns="91425" bIns="45700" anchor="b" anchorCtr="0">
            <a:noAutofit/>
          </a:bodyPr>
          <a:lstStyle/>
          <a:p>
            <a:pPr marL="0" marR="0" lvl="0" indent="0" algn="ctr" rtl="0">
              <a:lnSpc>
                <a:spcPct val="90000"/>
              </a:lnSpc>
              <a:spcBef>
                <a:spcPts val="0"/>
              </a:spcBef>
              <a:spcAft>
                <a:spcPts val="0"/>
              </a:spcAft>
              <a:buNone/>
            </a:pPr>
            <a:r>
              <a:rPr lang="en-US" sz="3500" b="0" i="0" u="none" strike="noStrike" cap="none" dirty="0">
                <a:solidFill>
                  <a:srgbClr val="0000FF"/>
                </a:solidFill>
                <a:latin typeface="Times New Roman" panose="02020603050405020304" charset="0"/>
                <a:ea typeface="Arial" panose="020B0604020202020204"/>
                <a:cs typeface="Times New Roman" panose="02020603050405020304" charset="0"/>
                <a:sym typeface="Arial" panose="020B0604020202020204"/>
              </a:rPr>
              <a:t>Project Review</a:t>
            </a:r>
            <a:endParaRPr lang="en-US" sz="3500" dirty="0">
              <a:solidFill>
                <a:srgbClr val="0000FF"/>
              </a:solidFill>
              <a:latin typeface="Times New Roman" panose="02020603050405020304" charset="0"/>
              <a:cs typeface="Times New Roman" panose="02020603050405020304" charset="0"/>
            </a:endParaRPr>
          </a:p>
        </p:txBody>
      </p:sp>
      <p:sp>
        <p:nvSpPr>
          <p:cNvPr id="37" name="Google Shape;37;p1"/>
          <p:cNvSpPr/>
          <p:nvPr/>
        </p:nvSpPr>
        <p:spPr>
          <a:xfrm>
            <a:off x="295470" y="3407660"/>
            <a:ext cx="678750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4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Presented by:</a:t>
            </a:r>
            <a:r>
              <a:rPr lang="en-US" sz="2400" b="0"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  </a:t>
            </a:r>
          </a:p>
          <a:p>
            <a:pPr marL="114300" marR="0" lvl="0" algn="l" rtl="0">
              <a:lnSpc>
                <a:spcPct val="150000"/>
              </a:lnSpc>
              <a:spcBef>
                <a:spcPts val="0"/>
              </a:spcBef>
              <a:spcAft>
                <a:spcPts val="0"/>
              </a:spcAft>
              <a:buClr>
                <a:schemeClr val="dk1"/>
              </a:buClr>
              <a:buSzPts val="1800"/>
            </a:pP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G. Bhanu </a:t>
            </a:r>
            <a:r>
              <a:rPr lang="en-US" sz="1800" b="1"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T</a:t>
            </a: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eja </a:t>
            </a:r>
            <a:r>
              <a:rPr lang="en-US" sz="1800" b="1"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 24B11DS072</a:t>
            </a:r>
          </a:p>
          <a:p>
            <a:pPr marL="457200" marR="0" lvl="0" indent="-342900" algn="l" rtl="0">
              <a:lnSpc>
                <a:spcPct val="150000"/>
              </a:lnSpc>
              <a:spcBef>
                <a:spcPts val="0"/>
              </a:spcBef>
              <a:spcAft>
                <a:spcPts val="0"/>
              </a:spcAft>
              <a:buClr>
                <a:schemeClr val="dk1"/>
              </a:buClr>
              <a:buSzPts val="1800"/>
              <a:buAutoNum type="alphaUcPeriod"/>
            </a:pPr>
            <a:r>
              <a:rPr lang="en-US" sz="1800"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Madhan – 24B11DS002</a:t>
            </a:r>
          </a:p>
          <a:p>
            <a:pPr marL="114300" marR="0" lvl="0" algn="l" rtl="0">
              <a:lnSpc>
                <a:spcPct val="150000"/>
              </a:lnSpc>
              <a:spcBef>
                <a:spcPts val="0"/>
              </a:spcBef>
              <a:spcAft>
                <a:spcPts val="0"/>
              </a:spcAft>
              <a:buClr>
                <a:schemeClr val="dk1"/>
              </a:buClr>
              <a:buSzPts val="1800"/>
            </a:pPr>
            <a:r>
              <a:rPr lang="en-US" sz="1800"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M. Chethan – 24B11DS128</a:t>
            </a:r>
          </a:p>
          <a:p>
            <a:pPr marL="114300" marR="0" lvl="0" algn="l" rtl="0">
              <a:lnSpc>
                <a:spcPct val="150000"/>
              </a:lnSpc>
              <a:spcBef>
                <a:spcPts val="0"/>
              </a:spcBef>
              <a:spcAft>
                <a:spcPts val="0"/>
              </a:spcAft>
              <a:buClr>
                <a:schemeClr val="dk1"/>
              </a:buClr>
              <a:buSzPts val="1800"/>
            </a:pPr>
            <a:r>
              <a:rPr lang="en-US"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K. Durga – 25B21DS008</a:t>
            </a:r>
            <a:endParaRPr lang="en-US" sz="1800" dirty="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p:txBody>
      </p:sp>
      <p:sp>
        <p:nvSpPr>
          <p:cNvPr id="38" name="Google Shape;38;p1"/>
          <p:cNvSpPr txBox="1"/>
          <p:nvPr/>
        </p:nvSpPr>
        <p:spPr>
          <a:xfrm>
            <a:off x="390800" y="2063378"/>
            <a:ext cx="10696612" cy="936104"/>
          </a:xfrm>
          <a:prstGeom prst="rect">
            <a:avLst/>
          </a:prstGeom>
          <a:noFill/>
          <a:ln>
            <a:noFill/>
          </a:ln>
        </p:spPr>
        <p:txBody>
          <a:bodyPr spcFirstLastPara="1" wrap="square" lIns="91425" tIns="45700" rIns="91425" bIns="45700" anchor="b" anchorCtr="0">
            <a:noAutofit/>
          </a:bodyPr>
          <a:lstStyle/>
          <a:p>
            <a:pPr lvl="0" algn="ctr">
              <a:buClr>
                <a:srgbClr val="7030A0"/>
              </a:buClr>
              <a:buSzPts val="2800"/>
            </a:pPr>
            <a:r>
              <a:rPr lang="en-US" sz="4000" dirty="0">
                <a:latin typeface="Times New Roman" panose="02020603050405020304" pitchFamily="18" charset="0"/>
                <a:cs typeface="Times New Roman" panose="02020603050405020304" pitchFamily="18" charset="0"/>
              </a:rPr>
              <a:t>Global Military Firepower Analysis Dashboard</a:t>
            </a:r>
          </a:p>
        </p:txBody>
      </p:sp>
      <p:sp>
        <p:nvSpPr>
          <p:cNvPr id="39" name="Google Shape;39;p1"/>
          <p:cNvSpPr/>
          <p:nvPr/>
        </p:nvSpPr>
        <p:spPr>
          <a:xfrm>
            <a:off x="7096601" y="3429238"/>
            <a:ext cx="4752528" cy="923289"/>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Project Guide: P. Srilatha</a:t>
            </a:r>
            <a:r>
              <a:rPr lang="en-US" b="1"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-Assistant Professor</a:t>
            </a:r>
            <a:endParaRPr lang="en-US" dirty="0">
              <a:solidFill>
                <a:schemeClr val="dk1"/>
              </a:solidFill>
              <a:latin typeface="Times New Roman" panose="02020603050405020304" charset="0"/>
              <a:ea typeface="Calibri" panose="020F0502020204030204"/>
              <a:cs typeface="Times New Roman" panose="02020603050405020304" charset="0"/>
              <a:sym typeface="Calibri" panose="020F0502020204030204"/>
            </a:endParaRPr>
          </a:p>
          <a:p>
            <a:pPr marL="0" marR="0" lvl="0" indent="0" algn="l" rtl="0">
              <a:lnSpc>
                <a:spcPct val="150000"/>
              </a:lnSpc>
              <a:spcBef>
                <a:spcPts val="0"/>
              </a:spcBef>
              <a:spcAft>
                <a:spcPts val="0"/>
              </a:spcAft>
              <a:buNone/>
            </a:pPr>
            <a:r>
              <a:rPr lang="en-US" sz="1800" b="1" i="0" u="none" strike="noStrike" cap="none" dirty="0">
                <a:solidFill>
                  <a:schemeClr val="dk1"/>
                </a:solidFill>
                <a:latin typeface="Times New Roman" panose="02020603050405020304" charset="0"/>
                <a:ea typeface="Calibri" panose="020F0502020204030204"/>
                <a:cs typeface="Times New Roman" panose="02020603050405020304" charset="0"/>
                <a:sym typeface="Calibri" panose="020F0502020204030204"/>
              </a:rPr>
              <a:t>Dept of Data Science</a:t>
            </a:r>
          </a:p>
        </p:txBody>
      </p:sp>
      <p:pic>
        <p:nvPicPr>
          <p:cNvPr id="3" name="Picture 2">
            <a:extLst>
              <a:ext uri="{FF2B5EF4-FFF2-40B4-BE49-F238E27FC236}">
                <a16:creationId xmlns:a16="http://schemas.microsoft.com/office/drawing/2014/main" id="{52CD09C8-588B-F30C-9325-F4928D6D90D1}"/>
              </a:ext>
            </a:extLst>
          </p:cNvPr>
          <p:cNvPicPr>
            <a:picLocks noChangeAspect="1"/>
          </p:cNvPicPr>
          <p:nvPr/>
        </p:nvPicPr>
        <p:blipFill>
          <a:blip r:embed="rId3"/>
          <a:stretch>
            <a:fillRect/>
          </a:stretch>
        </p:blipFill>
        <p:spPr>
          <a:xfrm>
            <a:off x="1872777" y="0"/>
            <a:ext cx="8249801" cy="13527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2"/>
          <p:cNvSpPr txBox="1">
            <a:spLocks noGrp="1"/>
          </p:cNvSpPr>
          <p:nvPr>
            <p:ph type="body" idx="1"/>
          </p:nvPr>
        </p:nvSpPr>
        <p:spPr>
          <a:xfrm>
            <a:off x="957576" y="1629657"/>
            <a:ext cx="10515600" cy="5112567"/>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0000"/>
              </a:buClr>
              <a:buSzPct val="100000"/>
              <a:buNone/>
            </a:pPr>
            <a:r>
              <a:rPr lang="en-US" sz="2700" dirty="0">
                <a:solidFill>
                  <a:srgbClr val="FF0000"/>
                </a:solidFill>
                <a:latin typeface="Times New Roman" panose="02020603050405020304" charset="0"/>
                <a:ea typeface="Times New Roman" panose="02020603050405020304"/>
                <a:cs typeface="Times New Roman" panose="02020603050405020304" charset="0"/>
                <a:sym typeface="Times New Roman" panose="02020603050405020304"/>
              </a:rPr>
              <a:t>Content for Project Review</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Project Title &amp; Team Details </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Abstract</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Software Requirements</a:t>
            </a:r>
          </a:p>
          <a:p>
            <a:pPr marL="514350" lvl="0" indent="-514350" algn="l" rtl="0">
              <a:lnSpc>
                <a:spcPct val="90000"/>
              </a:lnSpc>
              <a:spcBef>
                <a:spcPts val="1000"/>
              </a:spcBef>
              <a:spcAft>
                <a:spcPts val="0"/>
              </a:spcAft>
              <a:buClr>
                <a:schemeClr val="dk1"/>
              </a:buClr>
              <a:buSzPct val="100000"/>
              <a:buAutoNum type="arabicPeriod"/>
            </a:pPr>
            <a:r>
              <a:rPr lang="en-US" b="1" dirty="0">
                <a:latin typeface="Times New Roman" panose="02020603050405020304" charset="0"/>
                <a:cs typeface="Times New Roman" panose="02020603050405020304" charset="0"/>
              </a:rPr>
              <a:t>Hardware Requirements</a:t>
            </a:r>
          </a:p>
        </p:txBody>
      </p:sp>
      <p:pic>
        <p:nvPicPr>
          <p:cNvPr id="3" name="Picture 2">
            <a:extLst>
              <a:ext uri="{FF2B5EF4-FFF2-40B4-BE49-F238E27FC236}">
                <a16:creationId xmlns:a16="http://schemas.microsoft.com/office/drawing/2014/main" id="{F30B3B2D-D87C-3847-2E1C-3826ACC6BD36}"/>
              </a:ext>
            </a:extLst>
          </p:cNvPr>
          <p:cNvPicPr>
            <a:picLocks noChangeAspect="1"/>
          </p:cNvPicPr>
          <p:nvPr/>
        </p:nvPicPr>
        <p:blipFill>
          <a:blip r:embed="rId3"/>
          <a:stretch>
            <a:fillRect/>
          </a:stretch>
        </p:blipFill>
        <p:spPr>
          <a:xfrm>
            <a:off x="0" y="0"/>
            <a:ext cx="4124904" cy="6763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DCAA0-46FB-263A-71C9-F081385AB9B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9E406C-7B6F-14F9-4178-8431DFFF46B2}"/>
              </a:ext>
            </a:extLst>
          </p:cNvPr>
          <p:cNvSpPr txBox="1"/>
          <p:nvPr/>
        </p:nvSpPr>
        <p:spPr>
          <a:xfrm>
            <a:off x="3185651" y="541966"/>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Problem Statement</a:t>
            </a:r>
          </a:p>
          <a:p>
            <a:endParaRPr lang="en-IN" dirty="0"/>
          </a:p>
        </p:txBody>
      </p:sp>
      <p:sp>
        <p:nvSpPr>
          <p:cNvPr id="3" name="Rectangle 1">
            <a:extLst>
              <a:ext uri="{FF2B5EF4-FFF2-40B4-BE49-F238E27FC236}">
                <a16:creationId xmlns:a16="http://schemas.microsoft.com/office/drawing/2014/main" id="{18150F0C-C7F9-EE9C-46FF-DDFC048A042C}"/>
              </a:ext>
            </a:extLst>
          </p:cNvPr>
          <p:cNvSpPr>
            <a:spLocks noGrp="1" noChangeArrowheads="1"/>
          </p:cNvSpPr>
          <p:nvPr>
            <p:ph type="body" idx="1"/>
          </p:nvPr>
        </p:nvSpPr>
        <p:spPr bwMode="auto">
          <a:xfrm>
            <a:off x="903878" y="1786062"/>
            <a:ext cx="959766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ClrTx/>
              <a:buSzTx/>
            </a:pPr>
            <a:r>
              <a:rPr lang="en-IN" sz="1600" dirty="0">
                <a:latin typeface="Times New Roman" panose="02020603050405020304" pitchFamily="18" charset="0"/>
                <a:cs typeface="Times New Roman" panose="02020603050405020304" pitchFamily="18" charset="0"/>
              </a:rPr>
              <a:t>In the modern geopolitical landscape, global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operates as an intricate ecosystem where power is determined not merely by raw troop counts, but by how efficiently nations transform financial investment into multi-domain military capabilities. True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dynamics depend on complex strategic balances—weighing high-budget technological superiority against sheer manpower brawn, standing active forces against mobilization-dependent reserves, and naval power projection against ground and air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However, raw datasets and surface-level rankings fail to reveal how global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actually functions, masking vital insights such as per-capita militarization, domain specialization, and the dynamic shift in power created by potential international alliances. Without an interactive visualization system, evaluating actual military readiness, force allocation, and budget efficiency across nations remains fragmented and opaque for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analysts, researchers, and decision-makers. </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CBA45A-42BB-EE02-3EDB-CD105CC02960}"/>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3665381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5FFB43-603F-37E1-01E7-486E04C81215}"/>
              </a:ext>
            </a:extLst>
          </p:cNvPr>
          <p:cNvSpPr txBox="1"/>
          <p:nvPr/>
        </p:nvSpPr>
        <p:spPr>
          <a:xfrm>
            <a:off x="3185651" y="541966"/>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Bell MT" panose="02020503060305020303" pitchFamily="18" charset="0"/>
                <a:ea typeface="Calibri" panose="020F0502020204030204"/>
                <a:cs typeface="Calibri" panose="020F0502020204030204"/>
              </a:rPr>
              <a:t>Abstract</a:t>
            </a:r>
          </a:p>
          <a:p>
            <a:endParaRPr lang="en-IN" dirty="0"/>
          </a:p>
        </p:txBody>
      </p:sp>
      <p:sp>
        <p:nvSpPr>
          <p:cNvPr id="3" name="Rectangle 1">
            <a:extLst>
              <a:ext uri="{FF2B5EF4-FFF2-40B4-BE49-F238E27FC236}">
                <a16:creationId xmlns:a16="http://schemas.microsoft.com/office/drawing/2014/main" id="{25FB18B2-0609-5050-5A5B-910B1478FFCD}"/>
              </a:ext>
            </a:extLst>
          </p:cNvPr>
          <p:cNvSpPr>
            <a:spLocks noGrp="1" noChangeArrowheads="1"/>
          </p:cNvSpPr>
          <p:nvPr>
            <p:ph type="body" idx="1"/>
          </p:nvPr>
        </p:nvSpPr>
        <p:spPr bwMode="auto">
          <a:xfrm>
            <a:off x="903878" y="1208981"/>
            <a:ext cx="9597663"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ClrTx/>
              <a:buSzTx/>
            </a:pPr>
            <a:r>
              <a:rPr lang="en-IN" sz="1500" dirty="0">
                <a:latin typeface="Times New Roman" panose="02020603050405020304" pitchFamily="18" charset="0"/>
                <a:cs typeface="Times New Roman" panose="02020603050405020304" pitchFamily="18" charset="0"/>
              </a:rPr>
              <a:t>This project focuses on analysing and visualizing the </a:t>
            </a:r>
            <a:r>
              <a:rPr lang="en-IN" sz="1500" b="1" dirty="0">
                <a:latin typeface="Times New Roman" panose="02020603050405020304" pitchFamily="18" charset="0"/>
                <a:cs typeface="Times New Roman" panose="02020603050405020304" pitchFamily="18" charset="0"/>
              </a:rPr>
              <a:t>Global Military Firepower 2025</a:t>
            </a:r>
            <a:r>
              <a:rPr lang="en-IN" sz="1500" dirty="0">
                <a:latin typeface="Times New Roman" panose="02020603050405020304" pitchFamily="18" charset="0"/>
                <a:cs typeface="Times New Roman" panose="02020603050405020304" pitchFamily="18" charset="0"/>
              </a:rPr>
              <a:t> dataset to uncover meaningful insights into the military capabilities of countries worldwide. The project begins with </a:t>
            </a:r>
            <a:r>
              <a:rPr lang="en-IN" sz="1500" b="1" dirty="0">
                <a:latin typeface="Times New Roman" panose="02020603050405020304" pitchFamily="18" charset="0"/>
                <a:cs typeface="Times New Roman" panose="02020603050405020304" pitchFamily="18" charset="0"/>
              </a:rPr>
              <a:t>data cleaning and preprocessing</a:t>
            </a:r>
            <a:r>
              <a:rPr lang="en-IN" sz="1500" dirty="0">
                <a:latin typeface="Times New Roman" panose="02020603050405020304" pitchFamily="18" charset="0"/>
                <a:cs typeface="Times New Roman" panose="02020603050405020304" pitchFamily="18" charset="0"/>
              </a:rPr>
              <a:t>, where missing values, duplicate records, inconsistent column names, and incorrect data types are identified and corrected. Numerical fields are standardized, categorical values are validated, and the dataset is transformed into an analysis-ready format. After cleaning, </a:t>
            </a:r>
            <a:r>
              <a:rPr lang="en-IN" sz="1500" b="1" dirty="0">
                <a:latin typeface="Times New Roman" panose="02020603050405020304" pitchFamily="18" charset="0"/>
                <a:cs typeface="Times New Roman" panose="02020603050405020304" pitchFamily="18" charset="0"/>
              </a:rPr>
              <a:t>Exploratory Data Analysis (EDA)</a:t>
            </a:r>
            <a:r>
              <a:rPr lang="en-IN" sz="1500" dirty="0">
                <a:latin typeface="Times New Roman" panose="02020603050405020304" pitchFamily="18" charset="0"/>
                <a:cs typeface="Times New Roman" panose="02020603050405020304" pitchFamily="18" charset="0"/>
              </a:rPr>
              <a:t> is performed to understand the distribution of key variables such as </a:t>
            </a:r>
            <a:r>
              <a:rPr lang="en-IN" sz="1500" dirty="0" err="1">
                <a:latin typeface="Times New Roman" panose="02020603050405020304" pitchFamily="18" charset="0"/>
                <a:cs typeface="Times New Roman" panose="02020603050405020304" pitchFamily="18" charset="0"/>
              </a:rPr>
              <a:t>defense</a:t>
            </a:r>
            <a:r>
              <a:rPr lang="en-IN" sz="1500" dirty="0">
                <a:latin typeface="Times New Roman" panose="02020603050405020304" pitchFamily="18" charset="0"/>
                <a:cs typeface="Times New Roman" panose="02020603050405020304" pitchFamily="18" charset="0"/>
              </a:rPr>
              <a:t> budget, military personnel, aircraft, naval strength, armoured vehicles, population, and power index. Relationships between these variables are examined to identify trends and patterns across different countries and regions. The processed data is then used to build an </a:t>
            </a:r>
            <a:r>
              <a:rPr lang="en-IN" sz="1500" b="1" dirty="0">
                <a:latin typeface="Times New Roman" panose="02020603050405020304" pitchFamily="18" charset="0"/>
                <a:cs typeface="Times New Roman" panose="02020603050405020304" pitchFamily="18" charset="0"/>
              </a:rPr>
              <a:t>interactive dashboard</a:t>
            </a:r>
            <a:r>
              <a:rPr lang="en-IN" sz="1500" dirty="0">
                <a:latin typeface="Times New Roman" panose="02020603050405020304" pitchFamily="18" charset="0"/>
                <a:cs typeface="Times New Roman" panose="02020603050405020304" pitchFamily="18" charset="0"/>
              </a:rPr>
              <a:t> using visualization tools such as Power BI or Tableau. The dashboard includes KPIs, bar charts, maps, scatter plots, pie charts, and filters that allow users to compare countries, analyze regional military strength, and evaluate the factors influencing global military power rankings. This project demonstrates the complete data analytics workflow—from raw data preparation to insightful visual storytelling—enabling policymakers, researchers, students, and </a:t>
            </a:r>
            <a:r>
              <a:rPr lang="en-IN" sz="1500" dirty="0" err="1">
                <a:latin typeface="Times New Roman" panose="02020603050405020304" pitchFamily="18" charset="0"/>
                <a:cs typeface="Times New Roman" panose="02020603050405020304" pitchFamily="18" charset="0"/>
              </a:rPr>
              <a:t>defense</a:t>
            </a:r>
            <a:r>
              <a:rPr lang="en-IN" sz="1500" dirty="0">
                <a:latin typeface="Times New Roman" panose="02020603050405020304" pitchFamily="18" charset="0"/>
                <a:cs typeface="Times New Roman" panose="02020603050405020304" pitchFamily="18" charset="0"/>
              </a:rPr>
              <a:t> analysts to make informed decisions through clear, accurate, and interactive visualizations based on reliable military firepower data.</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EB30968-084E-EB67-28B5-AA922D411D5B}"/>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3362795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CC81-5E84-5909-3BEC-C074AB084F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7A12A5-5F13-86B8-8850-C2853C6A016B}"/>
              </a:ext>
            </a:extLst>
          </p:cNvPr>
          <p:cNvSpPr txBox="1"/>
          <p:nvPr/>
        </p:nvSpPr>
        <p:spPr>
          <a:xfrm>
            <a:off x="3185651" y="541966"/>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Objectives </a:t>
            </a:r>
          </a:p>
          <a:p>
            <a:endParaRPr lang="en-IN" dirty="0"/>
          </a:p>
        </p:txBody>
      </p:sp>
      <p:sp>
        <p:nvSpPr>
          <p:cNvPr id="3" name="Rectangle 1">
            <a:extLst>
              <a:ext uri="{FF2B5EF4-FFF2-40B4-BE49-F238E27FC236}">
                <a16:creationId xmlns:a16="http://schemas.microsoft.com/office/drawing/2014/main" id="{2D4060A5-3E2B-76F0-50AA-AC9BF86BB28E}"/>
              </a:ext>
            </a:extLst>
          </p:cNvPr>
          <p:cNvSpPr>
            <a:spLocks noGrp="1" noChangeArrowheads="1"/>
          </p:cNvSpPr>
          <p:nvPr>
            <p:ph type="body" idx="1"/>
          </p:nvPr>
        </p:nvSpPr>
        <p:spPr bwMode="auto">
          <a:xfrm>
            <a:off x="903878" y="1416731"/>
            <a:ext cx="959766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Data Architecture &amp; Preprocessing :</a:t>
            </a:r>
            <a:r>
              <a:rPr lang="en-IN" sz="1600" dirty="0">
                <a:latin typeface="Times New Roman" panose="02020603050405020304" pitchFamily="18" charset="0"/>
                <a:cs typeface="Times New Roman" panose="02020603050405020304" pitchFamily="18" charset="0"/>
              </a:rPr>
              <a:t>To transform raw data into an analysis-ready format by cleaning and preprocessing the dataset, which includes identifying and correcting missing values, duplicate records, inconsistent column names, and incorrect data types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Exploratory Data Analysis &amp; Trend Mapping :  </a:t>
            </a:r>
            <a:r>
              <a:rPr lang="en-IN" sz="1600" dirty="0">
                <a:latin typeface="Times New Roman" panose="02020603050405020304" pitchFamily="18" charset="0"/>
                <a:cs typeface="Times New Roman" panose="02020603050405020304" pitchFamily="18" charset="0"/>
              </a:rPr>
              <a:t>To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the distribution of key variables (e.g.,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budget, military personnel, aircraft, naval strength) and examine relationships to uncover geopolitical patterns and global military trends.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Core Dashboard Development &amp; UI/UX : </a:t>
            </a:r>
            <a:r>
              <a:rPr lang="en-IN" sz="1600" dirty="0">
                <a:latin typeface="Times New Roman" panose="02020603050405020304" pitchFamily="18" charset="0"/>
                <a:cs typeface="Times New Roman" panose="02020603050405020304" pitchFamily="18" charset="0"/>
              </a:rPr>
              <a:t>To design and construct the primary interactive dashboard using Power BI or Tableau, integrating key visual views such as the Geopolitical Landscape (Choropleth Maps) and Resource Allocation (Scatter Plots &amp; </a:t>
            </a:r>
            <a:r>
              <a:rPr lang="en-IN" sz="1600" dirty="0" err="1">
                <a:latin typeface="Times New Roman" panose="02020603050405020304" pitchFamily="18" charset="0"/>
                <a:cs typeface="Times New Roman" panose="02020603050405020304" pitchFamily="18" charset="0"/>
              </a:rPr>
              <a:t>Treemaps</a:t>
            </a:r>
            <a:r>
              <a:rPr lang="en-IN" sz="1600" dirty="0">
                <a:latin typeface="Times New Roman" panose="02020603050405020304" pitchFamily="18" charset="0"/>
                <a:cs typeface="Times New Roman" panose="02020603050405020304" pitchFamily="18" charset="0"/>
              </a:rPr>
              <a:t>).</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Advanced Analytics &amp; "What-If" </a:t>
            </a:r>
            <a:r>
              <a:rPr lang="en-IN" sz="1600" b="1" dirty="0" err="1">
                <a:latin typeface="Times New Roman" panose="02020603050405020304" pitchFamily="18" charset="0"/>
                <a:cs typeface="Times New Roman" panose="02020603050405020304" pitchFamily="18" charset="0"/>
              </a:rPr>
              <a:t>Modeling</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To implement innovative "next-level" features using DAX, including dynamic hypothetical alliance building (What-If parameters), readiness versus reserve indices, and per-capita militarization metrics.</a:t>
            </a: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EE4BBA4-6601-95EB-15BF-FCAB1BF78DBC}"/>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2899675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EBA9-5EC7-AE55-B985-EDB5EFD7D3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DB728B-32AB-9D56-DFFA-2A8A132D015E}"/>
              </a:ext>
            </a:extLst>
          </p:cNvPr>
          <p:cNvSpPr txBox="1"/>
          <p:nvPr/>
        </p:nvSpPr>
        <p:spPr>
          <a:xfrm>
            <a:off x="3185651" y="625592"/>
            <a:ext cx="5034116" cy="923330"/>
          </a:xfrm>
          <a:prstGeom prst="rect">
            <a:avLst/>
          </a:prstGeom>
          <a:noFill/>
        </p:spPr>
        <p:txBody>
          <a:bodyPr wrap="square" rtlCol="0">
            <a:sp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Data Set </a:t>
            </a:r>
            <a:r>
              <a:rPr lang="en-US" sz="4000" b="1" dirty="0" err="1">
                <a:solidFill>
                  <a:schemeClr val="dk1"/>
                </a:solidFill>
                <a:latin typeface="Times New Roman" panose="02020603050405020304" pitchFamily="18" charset="0"/>
                <a:ea typeface="Calibri" panose="020F0502020204030204"/>
                <a:cs typeface="Times New Roman" panose="02020603050405020304" pitchFamily="18" charset="0"/>
              </a:rPr>
              <a:t>Discription</a:t>
            </a: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 </a:t>
            </a:r>
          </a:p>
          <a:p>
            <a:endParaRPr lang="en-IN" dirty="0"/>
          </a:p>
        </p:txBody>
      </p:sp>
      <p:sp>
        <p:nvSpPr>
          <p:cNvPr id="3" name="Rectangle 1">
            <a:extLst>
              <a:ext uri="{FF2B5EF4-FFF2-40B4-BE49-F238E27FC236}">
                <a16:creationId xmlns:a16="http://schemas.microsoft.com/office/drawing/2014/main" id="{84168C6D-AF72-6936-9E97-22ABCAC0A5C7}"/>
              </a:ext>
            </a:extLst>
          </p:cNvPr>
          <p:cNvSpPr>
            <a:spLocks noGrp="1" noChangeArrowheads="1"/>
          </p:cNvSpPr>
          <p:nvPr>
            <p:ph type="body" idx="1"/>
          </p:nvPr>
        </p:nvSpPr>
        <p:spPr bwMode="auto">
          <a:xfrm>
            <a:off x="903877" y="1301962"/>
            <a:ext cx="9597663" cy="5107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Dataset Overview:</a:t>
            </a:r>
            <a:r>
              <a:rPr lang="en-IN" sz="1600" dirty="0">
                <a:latin typeface="Times New Roman" panose="02020603050405020304" pitchFamily="18" charset="0"/>
                <a:cs typeface="Times New Roman" panose="02020603050405020304" pitchFamily="18" charset="0"/>
              </a:rPr>
              <a:t> The "Global Military Firepower 2025" dataset contains </a:t>
            </a:r>
            <a:r>
              <a:rPr lang="en-IN" sz="1600" b="1" dirty="0">
                <a:latin typeface="Times New Roman" panose="02020603050405020304" pitchFamily="18" charset="0"/>
                <a:cs typeface="Times New Roman" panose="02020603050405020304" pitchFamily="18" charset="0"/>
              </a:rPr>
              <a:t>145 rows (representing 145 countries)</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57 detailed columns (assessment factors)</a:t>
            </a:r>
            <a:r>
              <a:rPr lang="en-IN" sz="1600" dirty="0">
                <a:latin typeface="Times New Roman" panose="02020603050405020304" pitchFamily="18" charset="0"/>
                <a:cs typeface="Times New Roman" panose="02020603050405020304" pitchFamily="18" charset="0"/>
              </a:rPr>
              <a:t> covering diverse military, economic, and logistical capabilities.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Demographics &amp; Manpower:</a:t>
            </a:r>
            <a:r>
              <a:rPr lang="en-IN" sz="1600" dirty="0">
                <a:latin typeface="Times New Roman" panose="02020603050405020304" pitchFamily="18" charset="0"/>
                <a:cs typeface="Times New Roman" panose="02020603050405020304" pitchFamily="18" charset="0"/>
              </a:rPr>
              <a:t> Includes metrics such as total population, total military manpower, fit for service, annual military age population, active personnel, reserve personnel, and paramilitary forces.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Financial Indicators:</a:t>
            </a:r>
            <a:r>
              <a:rPr lang="en-IN" sz="1600" dirty="0">
                <a:latin typeface="Times New Roman" panose="02020603050405020304" pitchFamily="18" charset="0"/>
                <a:cs typeface="Times New Roman" panose="02020603050405020304" pitchFamily="18" charset="0"/>
              </a:rPr>
              <a:t> Tracks critical economic data including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budget (in USD), external debt, purchasing power parity (PPP), and foreign exchange/gold reserves.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Hardware - Air Power:</a:t>
            </a:r>
            <a:r>
              <a:rPr lang="en-IN" sz="1600" dirty="0">
                <a:latin typeface="Times New Roman" panose="02020603050405020304" pitchFamily="18" charset="0"/>
                <a:cs typeface="Times New Roman" panose="02020603050405020304" pitchFamily="18" charset="0"/>
              </a:rPr>
              <a:t> Detailed counts of total military aircraft, fighter aircraft, attack aircraft, transport, trainers, special mission, tanker aircraft, total helicopters, and attack helicopters.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Hardware - Land Power:</a:t>
            </a:r>
            <a:r>
              <a:rPr lang="en-IN" sz="1600" dirty="0">
                <a:latin typeface="Times New Roman" panose="02020603050405020304" pitchFamily="18" charset="0"/>
                <a:cs typeface="Times New Roman" panose="02020603050405020304" pitchFamily="18" charset="0"/>
              </a:rPr>
              <a:t> Metrics covering tanks, </a:t>
            </a:r>
            <a:r>
              <a:rPr lang="en-IN" sz="1600" dirty="0" err="1">
                <a:latin typeface="Times New Roman" panose="02020603050405020304" pitchFamily="18" charset="0"/>
                <a:cs typeface="Times New Roman" panose="02020603050405020304" pitchFamily="18" charset="0"/>
              </a:rPr>
              <a:t>armored</a:t>
            </a:r>
            <a:r>
              <a:rPr lang="en-IN" sz="1600" dirty="0">
                <a:latin typeface="Times New Roman" panose="02020603050405020304" pitchFamily="18" charset="0"/>
                <a:cs typeface="Times New Roman" panose="02020603050405020304" pitchFamily="18" charset="0"/>
              </a:rPr>
              <a:t> fighting vehicles, self-propelled artillery, towed artillery, and rocket projectors.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Hardware - Naval Power:</a:t>
            </a:r>
            <a:r>
              <a:rPr lang="en-IN" sz="1600" dirty="0">
                <a:latin typeface="Times New Roman" panose="02020603050405020304" pitchFamily="18" charset="0"/>
                <a:cs typeface="Times New Roman" panose="02020603050405020304" pitchFamily="18" charset="0"/>
              </a:rPr>
              <a:t> Accounts for total naval fleet size, total fleet tonnage (MT), aircraft carriers, helicopter carriers, submarines, destroyers, frigates, corvettes, coastal patrol craft, and mine warfare craft.</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Logistics &amp; Geography:</a:t>
            </a:r>
            <a:r>
              <a:rPr lang="en-IN" sz="1600" dirty="0">
                <a:latin typeface="Times New Roman" panose="02020603050405020304" pitchFamily="18" charset="0"/>
                <a:cs typeface="Times New Roman" panose="02020603050405020304" pitchFamily="18" charset="0"/>
              </a:rPr>
              <a:t> Quantifies logistical endurance and geographic footprint through total serviceable airports, </a:t>
            </a:r>
            <a:r>
              <a:rPr lang="en-IN" sz="1600" dirty="0" err="1">
                <a:latin typeface="Times New Roman" panose="02020603050405020304" pitchFamily="18" charset="0"/>
                <a:cs typeface="Times New Roman" panose="02020603050405020304" pitchFamily="18" charset="0"/>
              </a:rPr>
              <a:t>labor</a:t>
            </a:r>
            <a:r>
              <a:rPr lang="en-IN" sz="1600" dirty="0">
                <a:latin typeface="Times New Roman" panose="02020603050405020304" pitchFamily="18" charset="0"/>
                <a:cs typeface="Times New Roman" panose="02020603050405020304" pitchFamily="18" charset="0"/>
              </a:rPr>
              <a:t> force, major ports and terminals, merchant marine fleets, railway and roadway coverage, land area, coastline, and shared borders.</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Natural Resources:</a:t>
            </a:r>
            <a:r>
              <a:rPr lang="en-IN" sz="1600" dirty="0">
                <a:latin typeface="Times New Roman" panose="02020603050405020304" pitchFamily="18" charset="0"/>
                <a:cs typeface="Times New Roman" panose="02020603050405020304" pitchFamily="18" charset="0"/>
              </a:rPr>
              <a:t> Tracks production, consumption, and proven reserves for critical wartime resources: oil (in barrels), natural gas (in cubic meters), and coal (in metric tons/cubic meters).</a:t>
            </a:r>
          </a:p>
        </p:txBody>
      </p:sp>
      <p:pic>
        <p:nvPicPr>
          <p:cNvPr id="7" name="Picture 6">
            <a:extLst>
              <a:ext uri="{FF2B5EF4-FFF2-40B4-BE49-F238E27FC236}">
                <a16:creationId xmlns:a16="http://schemas.microsoft.com/office/drawing/2014/main" id="{A25AD8AE-DEB9-5040-5545-B4157BE81A9A}"/>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186699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9E86-8451-BC29-720F-2AB8F52724F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047CD8-2648-50E3-0336-D3CC5DD6887E}"/>
              </a:ext>
            </a:extLst>
          </p:cNvPr>
          <p:cNvSpPr txBox="1"/>
          <p:nvPr/>
        </p:nvSpPr>
        <p:spPr>
          <a:xfrm>
            <a:off x="1443374" y="605974"/>
            <a:ext cx="8761329" cy="923330"/>
          </a:xfrm>
          <a:prstGeom prst="rect">
            <a:avLst/>
          </a:prstGeom>
          <a:noFill/>
        </p:spPr>
        <p:txBody>
          <a:bodyPr wrap="square" rtlCol="0">
            <a:spAutoFit/>
          </a:bodyPr>
          <a:lstStyle/>
          <a:p>
            <a:pPr algn="ctr">
              <a:lnSpc>
                <a:spcPct val="90000"/>
              </a:lnSpc>
              <a:buClr>
                <a:schemeClr val="dk1"/>
              </a:buClr>
              <a:buSzPts val="1800"/>
            </a:pPr>
            <a:r>
              <a:rPr lang="en-US" sz="4000" b="1" dirty="0" err="1">
                <a:solidFill>
                  <a:schemeClr val="dk1"/>
                </a:solidFill>
                <a:latin typeface="Times New Roman" panose="02020603050405020304" pitchFamily="18" charset="0"/>
                <a:ea typeface="Calibri" panose="020F0502020204030204"/>
                <a:cs typeface="Times New Roman" panose="02020603050405020304" pitchFamily="18" charset="0"/>
              </a:rPr>
              <a:t>Praposed</a:t>
            </a: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rPr>
              <a:t> Data Visualization </a:t>
            </a:r>
            <a:r>
              <a:rPr lang="en-US" sz="4000" b="1" dirty="0" err="1">
                <a:solidFill>
                  <a:schemeClr val="dk1"/>
                </a:solidFill>
                <a:latin typeface="Times New Roman" panose="02020603050405020304" pitchFamily="18" charset="0"/>
                <a:ea typeface="Calibri" panose="020F0502020204030204"/>
                <a:cs typeface="Times New Roman" panose="02020603050405020304" pitchFamily="18" charset="0"/>
              </a:rPr>
              <a:t>Approch</a:t>
            </a:r>
            <a:endParaRPr lang="en-US" sz="4000" b="1" dirty="0">
              <a:solidFill>
                <a:schemeClr val="dk1"/>
              </a:solidFill>
              <a:latin typeface="Times New Roman" panose="02020603050405020304" pitchFamily="18" charset="0"/>
              <a:ea typeface="Calibri" panose="020F0502020204030204"/>
              <a:cs typeface="Times New Roman" panose="02020603050405020304" pitchFamily="18" charset="0"/>
            </a:endParaRPr>
          </a:p>
          <a:p>
            <a:endParaRPr lang="en-IN" dirty="0"/>
          </a:p>
        </p:txBody>
      </p:sp>
      <p:sp>
        <p:nvSpPr>
          <p:cNvPr id="3" name="Rectangle 1">
            <a:extLst>
              <a:ext uri="{FF2B5EF4-FFF2-40B4-BE49-F238E27FC236}">
                <a16:creationId xmlns:a16="http://schemas.microsoft.com/office/drawing/2014/main" id="{D55532B4-F0A7-981B-3684-5DCFF65EFAFB}"/>
              </a:ext>
            </a:extLst>
          </p:cNvPr>
          <p:cNvSpPr>
            <a:spLocks noGrp="1" noChangeArrowheads="1"/>
          </p:cNvSpPr>
          <p:nvPr>
            <p:ph type="body" idx="1"/>
          </p:nvPr>
        </p:nvSpPr>
        <p:spPr bwMode="auto">
          <a:xfrm>
            <a:off x="903878" y="1457768"/>
            <a:ext cx="9597663" cy="4442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View 1: The Geopolitical Landscape:</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Choropleth Map</a:t>
            </a:r>
            <a:r>
              <a:rPr lang="en-IN" sz="1600" dirty="0">
                <a:latin typeface="Times New Roman" panose="02020603050405020304" pitchFamily="18" charset="0"/>
                <a:cs typeface="Times New Roman" panose="02020603050405020304" pitchFamily="18" charset="0"/>
              </a:rPr>
              <a:t> (diverging </a:t>
            </a:r>
            <a:r>
              <a:rPr lang="en-IN" sz="1600" dirty="0" err="1">
                <a:latin typeface="Times New Roman" panose="02020603050405020304" pitchFamily="18" charset="0"/>
                <a:cs typeface="Times New Roman" panose="02020603050405020304" pitchFamily="18" charset="0"/>
              </a:rPr>
              <a:t>color</a:t>
            </a:r>
            <a:r>
              <a:rPr lang="en-IN" sz="1600" dirty="0">
                <a:latin typeface="Times New Roman" panose="02020603050405020304" pitchFamily="18" charset="0"/>
                <a:cs typeface="Times New Roman" panose="02020603050405020304" pitchFamily="18" charset="0"/>
              </a:rPr>
              <a:t> scale) to establish global military hierarchy by </a:t>
            </a:r>
            <a:r>
              <a:rPr lang="en-IN" sz="1600" dirty="0" err="1">
                <a:latin typeface="Times New Roman" panose="02020603050405020304" pitchFamily="18" charset="0"/>
                <a:cs typeface="Times New Roman" panose="02020603050405020304" pitchFamily="18" charset="0"/>
              </a:rPr>
              <a:t>PowerIndex</a:t>
            </a:r>
            <a:r>
              <a:rPr lang="en-IN" sz="1600" dirty="0">
                <a:latin typeface="Times New Roman" panose="02020603050405020304" pitchFamily="18" charset="0"/>
                <a:cs typeface="Times New Roman" panose="02020603050405020304" pitchFamily="18" charset="0"/>
              </a:rPr>
              <a:t>. </a:t>
            </a: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Bar/Ribbon Chart</a:t>
            </a:r>
            <a:r>
              <a:rPr lang="en-IN" sz="1600" dirty="0">
                <a:latin typeface="Times New Roman" panose="02020603050405020304" pitchFamily="18" charset="0"/>
                <a:cs typeface="Times New Roman" panose="02020603050405020304" pitchFamily="18" charset="0"/>
              </a:rPr>
              <a:t> for Top 10 Powers and a </a:t>
            </a:r>
            <a:r>
              <a:rPr lang="en-IN" sz="1600" b="1" dirty="0">
                <a:latin typeface="Times New Roman" panose="02020603050405020304" pitchFamily="18" charset="0"/>
                <a:cs typeface="Times New Roman" panose="02020603050405020304" pitchFamily="18" charset="0"/>
              </a:rPr>
              <a:t>KPI Banner</a:t>
            </a:r>
            <a:r>
              <a:rPr lang="en-IN" sz="1600" dirty="0">
                <a:latin typeface="Times New Roman" panose="02020603050405020304" pitchFamily="18" charset="0"/>
                <a:cs typeface="Times New Roman" panose="02020603050405020304" pitchFamily="18" charset="0"/>
              </a:rPr>
              <a:t> summarizing global totals. </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View 2: Budget vs. Brawn (Resource Allocation):</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Efficiency Scatter Plot</a:t>
            </a:r>
            <a:r>
              <a:rPr lang="en-IN" sz="1600" dirty="0">
                <a:latin typeface="Times New Roman" panose="02020603050405020304" pitchFamily="18" charset="0"/>
                <a:cs typeface="Times New Roman" panose="02020603050405020304" pitchFamily="18" charset="0"/>
              </a:rPr>
              <a:t> (X: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Budget, Y: Active Personnel, Size: Total Hardware) to separate high-tech from manpower-heavy forces. </a:t>
            </a:r>
          </a:p>
          <a:p>
            <a:pPr marL="971550" lvl="1" indent="-285750">
              <a:buFont typeface="Wingdings" panose="05000000000000000000" pitchFamily="2" charset="2"/>
              <a:buChar char="§"/>
            </a:pPr>
            <a:r>
              <a:rPr lang="en-IN" sz="1600" b="1" dirty="0" err="1">
                <a:latin typeface="Times New Roman" panose="02020603050405020304" pitchFamily="18" charset="0"/>
                <a:cs typeface="Times New Roman" panose="02020603050405020304" pitchFamily="18" charset="0"/>
              </a:rPr>
              <a:t>Treemap</a:t>
            </a:r>
            <a:r>
              <a:rPr lang="en-IN" sz="1600" dirty="0">
                <a:latin typeface="Times New Roman" panose="02020603050405020304" pitchFamily="18" charset="0"/>
                <a:cs typeface="Times New Roman" panose="02020603050405020304" pitchFamily="18" charset="0"/>
              </a:rPr>
              <a:t> to display </a:t>
            </a:r>
            <a:r>
              <a:rPr lang="en-IN" sz="1600" dirty="0" err="1">
                <a:latin typeface="Times New Roman" panose="02020603050405020304" pitchFamily="18" charset="0"/>
                <a:cs typeface="Times New Roman" panose="02020603050405020304" pitchFamily="18" charset="0"/>
              </a:rPr>
              <a:t>defense</a:t>
            </a:r>
            <a:r>
              <a:rPr lang="en-IN" sz="1600" dirty="0">
                <a:latin typeface="Times New Roman" panose="02020603050405020304" pitchFamily="18" charset="0"/>
                <a:cs typeface="Times New Roman" panose="02020603050405020304" pitchFamily="18" charset="0"/>
              </a:rPr>
              <a:t> spending concentration by global region. </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View 3: Force Specialization (Domain Analysis):</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Triad Radar Chart</a:t>
            </a:r>
            <a:r>
              <a:rPr lang="en-IN" sz="1600" dirty="0">
                <a:latin typeface="Times New Roman" panose="02020603050405020304" pitchFamily="18" charset="0"/>
                <a:cs typeface="Times New Roman" panose="02020603050405020304" pitchFamily="18" charset="0"/>
              </a:rPr>
              <a:t> comparing domains (Army, Navy, Air Force) across nations. </a:t>
            </a: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100% Stacked Bar Chart</a:t>
            </a:r>
            <a:r>
              <a:rPr lang="en-IN" sz="1600" dirty="0">
                <a:latin typeface="Times New Roman" panose="02020603050405020304" pitchFamily="18" charset="0"/>
                <a:cs typeface="Times New Roman" panose="02020603050405020304" pitchFamily="18" charset="0"/>
              </a:rPr>
              <a:t> highlighting Naval vs. Air dominance ratios. </a:t>
            </a:r>
          </a:p>
          <a:p>
            <a:pPr lvl="0">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Advanced Interactive Features (DAX):</a:t>
            </a:r>
            <a:endParaRPr lang="en-IN" sz="1600" dirty="0">
              <a:latin typeface="Times New Roman" panose="02020603050405020304" pitchFamily="18" charset="0"/>
              <a:cs typeface="Times New Roman" panose="02020603050405020304" pitchFamily="18" charset="0"/>
            </a:endParaRP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"What-If" Alliance Builder:</a:t>
            </a:r>
            <a:r>
              <a:rPr lang="en-IN" sz="1600" dirty="0">
                <a:latin typeface="Times New Roman" panose="02020603050405020304" pitchFamily="18" charset="0"/>
                <a:cs typeface="Times New Roman" panose="02020603050405020304" pitchFamily="18" charset="0"/>
              </a:rPr>
              <a:t> Dynamic slicers to aggregate custom nation blocs and compare against superpowers. </a:t>
            </a:r>
          </a:p>
          <a:p>
            <a:pPr marL="971550" lvl="1" indent="-285750">
              <a:buFont typeface="Wingdings" panose="05000000000000000000" pitchFamily="2" charset="2"/>
              <a:buChar char="§"/>
            </a:pPr>
            <a:r>
              <a:rPr lang="en-IN" sz="1600" b="1" dirty="0">
                <a:latin typeface="Times New Roman" panose="02020603050405020304" pitchFamily="18" charset="0"/>
                <a:cs typeface="Times New Roman" panose="02020603050405020304" pitchFamily="18" charset="0"/>
              </a:rPr>
              <a:t>Readiness Index &amp; Per-Capita Metrics:</a:t>
            </a:r>
            <a:r>
              <a:rPr lang="en-IN" sz="1600" dirty="0">
                <a:latin typeface="Times New Roman" panose="02020603050405020304" pitchFamily="18" charset="0"/>
                <a:cs typeface="Times New Roman" panose="02020603050405020304" pitchFamily="18" charset="0"/>
              </a:rPr>
              <a:t> Gauge/Bar charts calculating Active vs. Reserve ratios and population-adjusted militarization. </a:t>
            </a:r>
          </a:p>
        </p:txBody>
      </p:sp>
      <p:pic>
        <p:nvPicPr>
          <p:cNvPr id="5" name="Picture 4">
            <a:extLst>
              <a:ext uri="{FF2B5EF4-FFF2-40B4-BE49-F238E27FC236}">
                <a16:creationId xmlns:a16="http://schemas.microsoft.com/office/drawing/2014/main" id="{3C888E9C-366D-183B-B5DD-9A1727BF41FE}"/>
              </a:ext>
            </a:extLst>
          </p:cNvPr>
          <p:cNvPicPr>
            <a:picLocks noChangeAspect="1"/>
          </p:cNvPicPr>
          <p:nvPr/>
        </p:nvPicPr>
        <p:blipFill>
          <a:blip r:embed="rId2"/>
          <a:stretch>
            <a:fillRect/>
          </a:stretch>
        </p:blipFill>
        <p:spPr>
          <a:xfrm>
            <a:off x="0" y="0"/>
            <a:ext cx="4124904" cy="676370"/>
          </a:xfrm>
          <a:prstGeom prst="rect">
            <a:avLst/>
          </a:prstGeom>
        </p:spPr>
      </p:pic>
    </p:spTree>
    <p:extLst>
      <p:ext uri="{BB962C8B-B14F-4D97-AF65-F5344CB8AC3E}">
        <p14:creationId xmlns:p14="http://schemas.microsoft.com/office/powerpoint/2010/main" val="3981849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ab29c3043a_0_85"/>
          <p:cNvSpPr txBox="1">
            <a:spLocks noGrp="1"/>
          </p:cNvSpPr>
          <p:nvPr>
            <p:ph type="body" idx="1"/>
          </p:nvPr>
        </p:nvSpPr>
        <p:spPr>
          <a:xfrm>
            <a:off x="869085" y="4994787"/>
            <a:ext cx="10515600" cy="1098508"/>
          </a:xfrm>
          <a:prstGeom prst="rect">
            <a:avLst/>
          </a:prstGeom>
        </p:spPr>
        <p:txBody>
          <a:bodyPr spcFirstLastPara="1" wrap="square" lIns="91425" tIns="45700" rIns="91425" bIns="45700" anchor="t" anchorCtr="0">
            <a:noAutofit/>
          </a:bodyPr>
          <a:lstStyle/>
          <a:p>
            <a:pPr marL="0" lvl="0" indent="0" algn="just" rtl="0">
              <a:lnSpc>
                <a:spcPct val="115000"/>
              </a:lnSpc>
              <a:spcBef>
                <a:spcPts val="1400"/>
              </a:spcBef>
              <a:spcAft>
                <a:spcPts val="0"/>
              </a:spcAft>
              <a:buNone/>
            </a:pPr>
            <a:endParaRPr lang="en-US" altLang="en-GB" sz="1600" b="1" dirty="0">
              <a:latin typeface="Times New Roman" panose="02020603050405020304" charset="0"/>
              <a:ea typeface="Arial" panose="020B0604020202020204"/>
              <a:cs typeface="Times New Roman" panose="02020603050405020304" charset="0"/>
              <a:sym typeface="Arial" panose="020B0604020202020204"/>
            </a:endParaRPr>
          </a:p>
          <a:p>
            <a:pPr marL="285750" indent="-285750" algn="just">
              <a:lnSpc>
                <a:spcPct val="115000"/>
              </a:lnSpc>
              <a:spcBef>
                <a:spcPts val="1400"/>
              </a:spcBef>
              <a:buFont typeface="Wingdings" panose="05000000000000000000" pitchFamily="2" charset="2"/>
              <a:buChar char="q"/>
            </a:pPr>
            <a:endParaRPr lang="en-US" altLang="en-GB" sz="1600" b="1" dirty="0">
              <a:latin typeface="Aptos Display" panose="020B0004020202020204" pitchFamily="34" charset="0"/>
              <a:ea typeface="Arial" panose="020B0604020202020204"/>
              <a:cs typeface="Times New Roman" panose="02020603050405020304" charset="0"/>
              <a:sym typeface="Arial" panose="020B0604020202020204"/>
            </a:endParaRPr>
          </a:p>
          <a:p>
            <a:pPr marL="0" lvl="0" indent="0" algn="just" rtl="0">
              <a:spcBef>
                <a:spcPts val="1200"/>
              </a:spcBef>
              <a:spcAft>
                <a:spcPts val="0"/>
              </a:spcAft>
              <a:buNone/>
            </a:pPr>
            <a:endParaRPr sz="1600" b="1" dirty="0">
              <a:latin typeface="Times New Roman" panose="02020603050405020304" charset="0"/>
              <a:ea typeface="Arial" panose="020B0604020202020204"/>
              <a:cs typeface="Times New Roman" panose="02020603050405020304" charset="0"/>
              <a:sym typeface="Arial" panose="020B0604020202020204"/>
            </a:endParaRPr>
          </a:p>
        </p:txBody>
      </p:sp>
      <p:sp>
        <p:nvSpPr>
          <p:cNvPr id="96" name="Google Shape;96;g3ab29c3043a_0_85"/>
          <p:cNvSpPr txBox="1"/>
          <p:nvPr/>
        </p:nvSpPr>
        <p:spPr>
          <a:xfrm>
            <a:off x="2697556" y="764705"/>
            <a:ext cx="5960400" cy="879600"/>
          </a:xfrm>
          <a:prstGeom prst="rect">
            <a:avLst/>
          </a:prstGeom>
          <a:noFill/>
          <a:ln>
            <a:noFill/>
          </a:ln>
        </p:spPr>
        <p:txBody>
          <a:bodyPr spcFirstLastPara="1" wrap="square" lIns="91425" tIns="91425" rIns="91425" bIns="91425" anchor="t" anchorCtr="0">
            <a:noAutofit/>
          </a:bodyPr>
          <a:lstStyle/>
          <a:p>
            <a:pPr algn="ctr">
              <a:lnSpc>
                <a:spcPct val="90000"/>
              </a:lnSpc>
              <a:buClr>
                <a:schemeClr val="dk1"/>
              </a:buClr>
              <a:buSzPts val="1800"/>
            </a:pPr>
            <a:r>
              <a:rPr lang="en-US" sz="40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rPr>
              <a:t>Project Requirements</a:t>
            </a:r>
            <a:endParaRPr sz="4000" b="1"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2" name="Picture 1">
            <a:extLst>
              <a:ext uri="{FF2B5EF4-FFF2-40B4-BE49-F238E27FC236}">
                <a16:creationId xmlns:a16="http://schemas.microsoft.com/office/drawing/2014/main" id="{11304536-21EF-C40E-ABF3-5745154CE494}"/>
              </a:ext>
            </a:extLst>
          </p:cNvPr>
          <p:cNvPicPr>
            <a:picLocks noChangeAspect="1"/>
          </p:cNvPicPr>
          <p:nvPr/>
        </p:nvPicPr>
        <p:blipFill>
          <a:blip r:embed="rId3"/>
          <a:stretch>
            <a:fillRect/>
          </a:stretch>
        </p:blipFill>
        <p:spPr>
          <a:xfrm>
            <a:off x="0" y="0"/>
            <a:ext cx="4124904" cy="676370"/>
          </a:xfrm>
          <a:prstGeom prst="rect">
            <a:avLst/>
          </a:prstGeom>
        </p:spPr>
      </p:pic>
      <p:sp>
        <p:nvSpPr>
          <p:cNvPr id="11" name="Rectangle 4">
            <a:extLst>
              <a:ext uri="{FF2B5EF4-FFF2-40B4-BE49-F238E27FC236}">
                <a16:creationId xmlns:a16="http://schemas.microsoft.com/office/drawing/2014/main" id="{4BBA73CE-76F8-F4D9-94EE-B26D6C7BCB6F}"/>
              </a:ext>
            </a:extLst>
          </p:cNvPr>
          <p:cNvSpPr>
            <a:spLocks noChangeArrowheads="1"/>
          </p:cNvSpPr>
          <p:nvPr/>
        </p:nvSpPr>
        <p:spPr bwMode="auto">
          <a:xfrm>
            <a:off x="869085" y="2214185"/>
            <a:ext cx="1018621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lang="en-US" b="1" dirty="0">
                <a:latin typeface="Times New Roman" panose="02020603050405020304" pitchFamily="18" charset="0"/>
                <a:cs typeface="Times New Roman" panose="02020603050405020304" pitchFamily="18" charset="0"/>
              </a:rPr>
              <a:t>Software Requirements:-</a:t>
            </a:r>
          </a:p>
          <a:p>
            <a:pPr marL="342900" lvl="0" indent="-34290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Windows 10 / Windows 11 / Linux</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Tool: Microsoft Power BI Desktop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Source</a:t>
            </a:r>
            <a:r>
              <a:rPr lang="en-US" dirty="0">
                <a:latin typeface="Times New Roman" panose="02020603050405020304" pitchFamily="18" charset="0"/>
                <a:cs typeface="Times New Roman" panose="02020603050405020304" pitchFamily="18" charset="0"/>
              </a:rPr>
              <a:t>: CSV/Excel Dataset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Cleaning:</a:t>
            </a:r>
            <a:r>
              <a:rPr lang="en-US" dirty="0">
                <a:latin typeface="Times New Roman" panose="02020603050405020304" pitchFamily="18" charset="0"/>
                <a:cs typeface="Times New Roman" panose="02020603050405020304" pitchFamily="18" charset="0"/>
              </a:rPr>
              <a:t> DAX (Power Query )and MS Excel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Web</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Browser</a:t>
            </a:r>
            <a:r>
              <a:rPr lang="en-US" dirty="0">
                <a:latin typeface="Times New Roman" panose="02020603050405020304" pitchFamily="18" charset="0"/>
                <a:cs typeface="Times New Roman" panose="02020603050405020304" pitchFamily="18" charset="0"/>
              </a:rPr>
              <a:t>: Google Chrome or Microsoft Edge Software for Data Sets</a:t>
            </a:r>
          </a:p>
          <a:p>
            <a:pPr lvl="0"/>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Processor:</a:t>
            </a:r>
            <a:r>
              <a:rPr lang="en-US" dirty="0">
                <a:latin typeface="Times New Roman" panose="02020603050405020304" pitchFamily="18" charset="0"/>
                <a:cs typeface="Times New Roman" panose="02020603050405020304" pitchFamily="18" charset="0"/>
              </a:rPr>
              <a:t> Intel i3 / i5 or equivalent</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RAM:</a:t>
            </a:r>
            <a:r>
              <a:rPr lang="en-US" dirty="0">
                <a:latin typeface="Times New Roman" panose="02020603050405020304" pitchFamily="18" charset="0"/>
                <a:cs typeface="Times New Roman" panose="02020603050405020304" pitchFamily="18" charset="0"/>
              </a:rPr>
              <a:t> Minimum 8 GB (16 GB recommended) </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Hard Disk:</a:t>
            </a:r>
            <a:r>
              <a:rPr lang="en-US" dirty="0">
                <a:latin typeface="Times New Roman" panose="02020603050405020304" pitchFamily="18" charset="0"/>
                <a:cs typeface="Times New Roman" panose="02020603050405020304" pitchFamily="18" charset="0"/>
              </a:rPr>
              <a:t> Minimum 20 GB free space</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Display</a:t>
            </a:r>
            <a:r>
              <a:rPr lang="en-US" dirty="0">
                <a:latin typeface="Times New Roman" panose="02020603050405020304" pitchFamily="18" charset="0"/>
                <a:cs typeface="Times New Roman" panose="02020603050405020304" pitchFamily="18" charset="0"/>
              </a:rPr>
              <a:t>: 1366 × 768 resolution or higher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Internet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Connection</a:t>
            </a:r>
            <a:r>
              <a:rPr lang="en-US" dirty="0">
                <a:latin typeface="Times New Roman" panose="02020603050405020304" pitchFamily="18" charset="0"/>
                <a:cs typeface="Times New Roman" panose="02020603050405020304" pitchFamily="18" charset="0"/>
              </a:rPr>
              <a:t>: Required for downloading datasets and publishing reports </a:t>
            </a:r>
          </a:p>
          <a:p>
            <a:pPr marL="285750" lvl="0" indent="-285750">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Keyboard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Mouse</a:t>
            </a:r>
            <a:r>
              <a:rPr lang="en-US" dirty="0">
                <a:latin typeface="Times New Roman" panose="02020603050405020304" pitchFamily="18" charset="0"/>
                <a:cs typeface="Times New Roman" panose="02020603050405020304" pitchFamily="18" charset="0"/>
              </a:rPr>
              <a:t>: Standard input devices</a:t>
            </a:r>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q"/>
            </a:pPr>
            <a:endParaRPr lang="en-IN"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
          <p:cNvSpPr txBox="1">
            <a:spLocks noGrp="1"/>
          </p:cNvSpPr>
          <p:nvPr>
            <p:ph type="body" idx="1"/>
          </p:nvPr>
        </p:nvSpPr>
        <p:spPr>
          <a:xfrm>
            <a:off x="47328" y="1412777"/>
            <a:ext cx="11337357" cy="1527068"/>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1"/>
              </a:buClr>
              <a:buSzPts val="3200"/>
              <a:buNone/>
            </a:pPr>
            <a:endParaRPr sz="32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ts val="3200"/>
              <a:buNone/>
            </a:pPr>
            <a:endParaRPr sz="3200" b="1" dirty="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ts val="2800"/>
              <a:buNone/>
            </a:pPr>
            <a:r>
              <a:rPr lang="en-US" b="1" dirty="0">
                <a:latin typeface="Times New Roman" panose="02020603050405020304"/>
                <a:ea typeface="Times New Roman" panose="02020603050405020304"/>
                <a:cs typeface="Times New Roman" panose="02020603050405020304"/>
                <a:sym typeface="Times New Roman" panose="02020603050405020304"/>
              </a:rPr>
              <a:t>		</a:t>
            </a:r>
            <a:endParaRPr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Rounded Corners 1">
            <a:extLst>
              <a:ext uri="{FF2B5EF4-FFF2-40B4-BE49-F238E27FC236}">
                <a16:creationId xmlns:a16="http://schemas.microsoft.com/office/drawing/2014/main" id="{CDCB57FE-FB1D-1CC9-5249-298D380B1037}"/>
              </a:ext>
            </a:extLst>
          </p:cNvPr>
          <p:cNvSpPr/>
          <p:nvPr/>
        </p:nvSpPr>
        <p:spPr>
          <a:xfrm>
            <a:off x="2045110" y="1750142"/>
            <a:ext cx="7502013" cy="314632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p:sp>
        <p:nvSpPr>
          <p:cNvPr id="3" name="TextBox 2">
            <a:extLst>
              <a:ext uri="{FF2B5EF4-FFF2-40B4-BE49-F238E27FC236}">
                <a16:creationId xmlns:a16="http://schemas.microsoft.com/office/drawing/2014/main" id="{C1FB361C-5AB5-69F8-B7F9-FB108DEC6ADE}"/>
              </a:ext>
            </a:extLst>
          </p:cNvPr>
          <p:cNvSpPr txBox="1"/>
          <p:nvPr/>
        </p:nvSpPr>
        <p:spPr>
          <a:xfrm>
            <a:off x="4208206" y="2861711"/>
            <a:ext cx="3775588" cy="83099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US" sz="4800" dirty="0">
                <a:latin typeface="Algerian" panose="04020705040A02060702" pitchFamily="82" charset="0"/>
              </a:rPr>
              <a:t>THANK YOU </a:t>
            </a:r>
            <a:endParaRPr lang="en-IN" dirty="0">
              <a:latin typeface="Algerian" panose="04020705040A02060702" pitchFamily="82" charset="0"/>
            </a:endParaRPr>
          </a:p>
        </p:txBody>
      </p:sp>
      <p:pic>
        <p:nvPicPr>
          <p:cNvPr id="4" name="Picture 3">
            <a:extLst>
              <a:ext uri="{FF2B5EF4-FFF2-40B4-BE49-F238E27FC236}">
                <a16:creationId xmlns:a16="http://schemas.microsoft.com/office/drawing/2014/main" id="{1D8FF028-1F26-2EBA-D2A4-B16B294BEDDC}"/>
              </a:ext>
            </a:extLst>
          </p:cNvPr>
          <p:cNvPicPr>
            <a:picLocks noChangeAspect="1"/>
          </p:cNvPicPr>
          <p:nvPr/>
        </p:nvPicPr>
        <p:blipFill>
          <a:blip r:embed="rId3"/>
          <a:stretch>
            <a:fillRect/>
          </a:stretch>
        </p:blipFill>
        <p:spPr>
          <a:xfrm>
            <a:off x="0" y="0"/>
            <a:ext cx="4124904" cy="6763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559</TotalTime>
  <Words>1169</Words>
  <Application>Microsoft Office PowerPoint</Application>
  <PresentationFormat>Widescreen</PresentationFormat>
  <Paragraphs>67</Paragraphs>
  <Slides>9</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Algerian</vt:lpstr>
      <vt:lpstr>Aptos Display</vt:lpstr>
      <vt:lpstr>Arial</vt:lpstr>
      <vt:lpstr>Bell MT</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Bhanu Teja Gudi</cp:lastModifiedBy>
  <cp:revision>31</cp:revision>
  <dcterms:created xsi:type="dcterms:W3CDTF">2026-01-02T15:24:29Z</dcterms:created>
  <dcterms:modified xsi:type="dcterms:W3CDTF">2026-08-09T15:37:41Z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473FCBF87CDC444DB0EAC98A68FB20A8_12</vt:lpwstr>
  </property>
  <property fmtid="{D5CDD505-2E9C-101B-9397-08002B2CF9AE}" pid="3" name="KSOProductBuildVer">
    <vt:lpwstr>2057-12.2.0.23197</vt:lpwstr>
  </property>
</Properties>
</file>